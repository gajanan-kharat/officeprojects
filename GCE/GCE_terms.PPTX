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672" r:id="rId5"/>
  </p:sldMasterIdLst>
  <p:notesMasterIdLst>
    <p:notesMasterId r:id="rId17"/>
  </p:notesMasterIdLst>
  <p:handoutMasterIdLst>
    <p:handoutMasterId r:id="rId18"/>
  </p:handoutMasterIdLst>
  <p:sldIdLst>
    <p:sldId id="256" r:id="rId6"/>
    <p:sldId id="274" r:id="rId7"/>
    <p:sldId id="283" r:id="rId8"/>
    <p:sldId id="282" r:id="rId9"/>
    <p:sldId id="284" r:id="rId10"/>
    <p:sldId id="276" r:id="rId11"/>
    <p:sldId id="277" r:id="rId12"/>
    <p:sldId id="278" r:id="rId13"/>
    <p:sldId id="279" r:id="rId14"/>
    <p:sldId id="280" r:id="rId15"/>
    <p:sldId id="269" r:id="rId16"/>
  </p:sldIdLst>
  <p:sldSz cx="9144000" cy="5143500" type="screen16x9"/>
  <p:notesSz cx="7010400" cy="9236075"/>
  <p:defaultTextStyle>
    <a:defPPr>
      <a:defRPr lang="en-US"/>
    </a:defPPr>
    <a:lvl1pPr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1pPr>
    <a:lvl2pPr marL="389626"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2pPr>
    <a:lvl3pPr marL="779252"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3pPr>
    <a:lvl4pPr marL="1168878"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4pPr>
    <a:lvl5pPr marL="1558503" algn="ctr" rtl="0" fontAlgn="base">
      <a:spcBef>
        <a:spcPct val="0"/>
      </a:spcBef>
      <a:spcAft>
        <a:spcPct val="0"/>
      </a:spcAft>
      <a:defRPr sz="1200" kern="1200">
        <a:solidFill>
          <a:schemeClr val="tx1"/>
        </a:solidFill>
        <a:latin typeface="Arial" pitchFamily="34" charset="0"/>
        <a:ea typeface="ヒラギノ角ゴ Pro W3" pitchFamily="124" charset="-128"/>
        <a:cs typeface="+mn-cs"/>
      </a:defRPr>
    </a:lvl5pPr>
    <a:lvl6pPr marL="1948129" algn="l" defTabSz="779252" rtl="0" eaLnBrk="1" latinLnBrk="0" hangingPunct="1">
      <a:defRPr sz="1200" kern="1200">
        <a:solidFill>
          <a:schemeClr val="tx1"/>
        </a:solidFill>
        <a:latin typeface="Arial" pitchFamily="34" charset="0"/>
        <a:ea typeface="ヒラギノ角ゴ Pro W3" pitchFamily="124" charset="-128"/>
        <a:cs typeface="+mn-cs"/>
      </a:defRPr>
    </a:lvl6pPr>
    <a:lvl7pPr marL="2337755" algn="l" defTabSz="779252" rtl="0" eaLnBrk="1" latinLnBrk="0" hangingPunct="1">
      <a:defRPr sz="1200" kern="1200">
        <a:solidFill>
          <a:schemeClr val="tx1"/>
        </a:solidFill>
        <a:latin typeface="Arial" pitchFamily="34" charset="0"/>
        <a:ea typeface="ヒラギノ角ゴ Pro W3" pitchFamily="124" charset="-128"/>
        <a:cs typeface="+mn-cs"/>
      </a:defRPr>
    </a:lvl7pPr>
    <a:lvl8pPr marL="2727381" algn="l" defTabSz="779252" rtl="0" eaLnBrk="1" latinLnBrk="0" hangingPunct="1">
      <a:defRPr sz="1200" kern="1200">
        <a:solidFill>
          <a:schemeClr val="tx1"/>
        </a:solidFill>
        <a:latin typeface="Arial" pitchFamily="34" charset="0"/>
        <a:ea typeface="ヒラギノ角ゴ Pro W3" pitchFamily="124" charset="-128"/>
        <a:cs typeface="+mn-cs"/>
      </a:defRPr>
    </a:lvl8pPr>
    <a:lvl9pPr marL="3117007" algn="l" defTabSz="779252" rtl="0" eaLnBrk="1" latinLnBrk="0" hangingPunct="1">
      <a:defRPr sz="1200" kern="1200">
        <a:solidFill>
          <a:schemeClr val="tx1"/>
        </a:solidFill>
        <a:latin typeface="Arial" pitchFamily="34" charset="0"/>
        <a:ea typeface="ヒラギノ角ゴ Pro W3" pitchFamily="124" charset="-128"/>
        <a:cs typeface="+mn-cs"/>
      </a:defRPr>
    </a:lvl9pPr>
  </p:defaultTextStyle>
  <p:extLst>
    <p:ext uri="{EFAFB233-063F-42B5-8137-9DF3F51BA10A}">
      <p15:sldGuideLst xmlns:p15="http://schemas.microsoft.com/office/powerpoint/2012/main">
        <p15:guide id="1" orient="horz" pos="2532" userDrawn="1">
          <p15:clr>
            <a:srgbClr val="A4A3A4"/>
          </p15:clr>
        </p15:guide>
        <p15:guide id="4" orient="horz" pos="2748" userDrawn="1">
          <p15:clr>
            <a:srgbClr val="A4A3A4"/>
          </p15:clr>
        </p15:guide>
        <p15:guide id="5" orient="horz" pos="3888">
          <p15:clr>
            <a:srgbClr val="A4A3A4"/>
          </p15:clr>
        </p15:guide>
        <p15:guide id="11" pos="5760" userDrawn="1">
          <p15:clr>
            <a:srgbClr val="A4A3A4"/>
          </p15:clr>
        </p15:guide>
        <p15:guide id="15" pos="6144">
          <p15:clr>
            <a:srgbClr val="A4A3A4"/>
          </p15:clr>
        </p15:guide>
        <p15:guide id="16" orient="horz" pos="276" userDrawn="1">
          <p15:clr>
            <a:srgbClr val="A4A3A4"/>
          </p15:clr>
        </p15:guide>
        <p15:guide id="20" pos="2736" userDrawn="1">
          <p15:clr>
            <a:srgbClr val="A4A3A4"/>
          </p15:clr>
        </p15:guide>
        <p15:guide id="21" pos="5688" userDrawn="1">
          <p15:clr>
            <a:srgbClr val="A4A3A4"/>
          </p15:clr>
        </p15:guide>
        <p15:guide id="22" orient="horz" pos="1956" userDrawn="1">
          <p15:clr>
            <a:srgbClr val="A4A3A4"/>
          </p15:clr>
        </p15:guide>
        <p15:guide id="26" orient="horz" pos="3036" userDrawn="1">
          <p15:clr>
            <a:srgbClr val="A4A3A4"/>
          </p15:clr>
        </p15:guide>
        <p15:guide id="27" orient="horz" pos="1644" userDrawn="1">
          <p15:clr>
            <a:srgbClr val="A4A3A4"/>
          </p15:clr>
        </p15:guide>
        <p15:guide id="28" orient="horz" pos="1860" userDrawn="1">
          <p15:clr>
            <a:srgbClr val="A4A3A4"/>
          </p15:clr>
        </p15:guide>
        <p15:guide id="29" pos="2880" userDrawn="1">
          <p15:clr>
            <a:srgbClr val="A4A3A4"/>
          </p15:clr>
        </p15:guide>
        <p15:guide id="31" orient="horz" pos="804" userDrawn="1">
          <p15:clr>
            <a:srgbClr val="A4A3A4"/>
          </p15:clr>
        </p15:guide>
        <p15:guide id="32" pos="5448" userDrawn="1">
          <p15:clr>
            <a:srgbClr val="A4A3A4"/>
          </p15:clr>
        </p15:guide>
        <p15:guide id="33" pos="480" userDrawn="1">
          <p15:clr>
            <a:srgbClr val="A4A3A4"/>
          </p15:clr>
        </p15:guide>
        <p15:guide id="34" pos="336" userDrawn="1">
          <p15:clr>
            <a:srgbClr val="A4A3A4"/>
          </p15:clr>
        </p15:guide>
        <p15:guide id="35" orient="horz" pos="348" userDrawn="1">
          <p15:clr>
            <a:srgbClr val="A4A3A4"/>
          </p15:clr>
        </p15:guide>
        <p15:guide id="36" orient="horz" pos="2169">
          <p15:clr>
            <a:srgbClr val="A4A3A4"/>
          </p15:clr>
        </p15:guide>
        <p15:guide id="37" orient="horz" pos="3239">
          <p15:clr>
            <a:srgbClr val="A4A3A4"/>
          </p15:clr>
        </p15:guide>
        <p15:guide id="38" orient="horz" pos="606">
          <p15:clr>
            <a:srgbClr val="A4A3A4"/>
          </p15:clr>
        </p15:guide>
        <p15:guide id="39" orient="horz" pos="2772">
          <p15:clr>
            <a:srgbClr val="A4A3A4"/>
          </p15:clr>
        </p15:guide>
        <p15:guide id="40" pos="5759">
          <p15:clr>
            <a:srgbClr val="A4A3A4"/>
          </p15:clr>
        </p15:guide>
        <p15:guide id="41" pos="5700">
          <p15:clr>
            <a:srgbClr val="A4A3A4"/>
          </p15:clr>
        </p15:guide>
        <p15:guide id="42" pos="2944">
          <p15:clr>
            <a:srgbClr val="A4A3A4"/>
          </p15:clr>
        </p15:guide>
        <p15:guide id="43" pos="468">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CC00"/>
    <a:srgbClr val="F2F2F2"/>
    <a:srgbClr val="00CCFF"/>
    <a:srgbClr val="00008C"/>
    <a:srgbClr val="001EFF"/>
    <a:srgbClr val="F46E00"/>
    <a:srgbClr val="9AF7FF"/>
    <a:srgbClr val="D9D9D9"/>
    <a:srgbClr val="2C2D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2895" autoAdjust="0"/>
  </p:normalViewPr>
  <p:slideViewPr>
    <p:cSldViewPr snapToGrid="0">
      <p:cViewPr varScale="1">
        <p:scale>
          <a:sx n="96" d="100"/>
          <a:sy n="96" d="100"/>
        </p:scale>
        <p:origin x="498" y="72"/>
      </p:cViewPr>
      <p:guideLst>
        <p:guide orient="horz" pos="2532"/>
        <p:guide orient="horz" pos="2748"/>
        <p:guide orient="horz" pos="3888"/>
        <p:guide pos="5760"/>
        <p:guide pos="6144"/>
        <p:guide orient="horz" pos="276"/>
        <p:guide pos="2736"/>
        <p:guide pos="5688"/>
        <p:guide orient="horz" pos="1956"/>
        <p:guide orient="horz" pos="3036"/>
        <p:guide orient="horz" pos="1644"/>
        <p:guide orient="horz" pos="1860"/>
        <p:guide pos="2880"/>
        <p:guide orient="horz" pos="804"/>
        <p:guide pos="5448"/>
        <p:guide pos="480"/>
        <p:guide pos="336"/>
        <p:guide orient="horz" pos="348"/>
        <p:guide orient="horz" pos="2169"/>
        <p:guide orient="horz" pos="3239"/>
        <p:guide orient="horz" pos="606"/>
        <p:guide orient="horz" pos="2772"/>
        <p:guide pos="5759"/>
        <p:guide pos="5700"/>
        <p:guide pos="2944"/>
        <p:guide pos="4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66" y="-120"/>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1" y="2"/>
            <a:ext cx="3047645"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t" anchorCtr="0" compatLnSpc="1">
            <a:prstTxWarp prst="textNoShape">
              <a:avLst/>
            </a:prstTxWarp>
          </a:bodyPr>
          <a:lstStyle>
            <a:lvl1pPr algn="l" defTabSz="873824">
              <a:defRPr sz="1100" smtClean="0"/>
            </a:lvl1pPr>
          </a:lstStyle>
          <a:p>
            <a:pPr>
              <a:defRPr/>
            </a:pPr>
            <a:endParaRPr lang="en-US" dirty="0"/>
          </a:p>
        </p:txBody>
      </p:sp>
      <p:sp>
        <p:nvSpPr>
          <p:cNvPr id="31747" name="Rectangle 3"/>
          <p:cNvSpPr>
            <a:spLocks noGrp="1" noChangeArrowheads="1"/>
          </p:cNvSpPr>
          <p:nvPr>
            <p:ph type="dt" sz="quarter" idx="1"/>
          </p:nvPr>
        </p:nvSpPr>
        <p:spPr bwMode="auto">
          <a:xfrm>
            <a:off x="3962756" y="2"/>
            <a:ext cx="3047644"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t" anchorCtr="0" compatLnSpc="1">
            <a:prstTxWarp prst="textNoShape">
              <a:avLst/>
            </a:prstTxWarp>
          </a:bodyPr>
          <a:lstStyle>
            <a:lvl1pPr algn="r" defTabSz="873824">
              <a:defRPr sz="1100" smtClean="0"/>
            </a:lvl1pPr>
          </a:lstStyle>
          <a:p>
            <a:pPr>
              <a:defRPr/>
            </a:pPr>
            <a:endParaRPr lang="en-US" dirty="0"/>
          </a:p>
        </p:txBody>
      </p:sp>
      <p:sp>
        <p:nvSpPr>
          <p:cNvPr id="31748" name="Rectangle 4"/>
          <p:cNvSpPr>
            <a:spLocks noGrp="1" noChangeArrowheads="1"/>
          </p:cNvSpPr>
          <p:nvPr>
            <p:ph type="ftr" sz="quarter" idx="2"/>
          </p:nvPr>
        </p:nvSpPr>
        <p:spPr bwMode="auto">
          <a:xfrm>
            <a:off x="1" y="8781867"/>
            <a:ext cx="3047645"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b" anchorCtr="0" compatLnSpc="1">
            <a:prstTxWarp prst="textNoShape">
              <a:avLst/>
            </a:prstTxWarp>
          </a:bodyPr>
          <a:lstStyle>
            <a:lvl1pPr algn="l" defTabSz="873824">
              <a:defRPr sz="1100" smtClean="0"/>
            </a:lvl1pPr>
          </a:lstStyle>
          <a:p>
            <a:pPr>
              <a:defRPr/>
            </a:pPr>
            <a:endParaRPr lang="en-US" dirty="0"/>
          </a:p>
        </p:txBody>
      </p:sp>
      <p:sp>
        <p:nvSpPr>
          <p:cNvPr id="31749" name="Rectangle 5"/>
          <p:cNvSpPr>
            <a:spLocks noGrp="1" noChangeArrowheads="1"/>
          </p:cNvSpPr>
          <p:nvPr>
            <p:ph type="sldNum" sz="quarter" idx="3"/>
          </p:nvPr>
        </p:nvSpPr>
        <p:spPr bwMode="auto">
          <a:xfrm>
            <a:off x="3962756" y="8781867"/>
            <a:ext cx="3047644" cy="454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7335" tIns="43666" rIns="87335" bIns="43666" numCol="1" anchor="b" anchorCtr="0" compatLnSpc="1">
            <a:prstTxWarp prst="textNoShape">
              <a:avLst/>
            </a:prstTxWarp>
          </a:bodyPr>
          <a:lstStyle>
            <a:lvl1pPr algn="r" defTabSz="873824">
              <a:defRPr sz="1100" smtClean="0"/>
            </a:lvl1pPr>
          </a:lstStyle>
          <a:p>
            <a:pPr>
              <a:defRPr/>
            </a:pPr>
            <a:fld id="{DA6835A3-9366-4C20-B248-0AC9C46AA67A}" type="slidenum">
              <a:rPr lang="en-US"/>
              <a:pPr>
                <a:defRPr/>
              </a:pPr>
              <a:t>‹#›</a:t>
            </a:fld>
            <a:endParaRPr lang="en-US" dirty="0"/>
          </a:p>
        </p:txBody>
      </p:sp>
    </p:spTree>
    <p:extLst>
      <p:ext uri="{BB962C8B-B14F-4D97-AF65-F5344CB8AC3E}">
        <p14:creationId xmlns:p14="http://schemas.microsoft.com/office/powerpoint/2010/main" val="210507233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3" y="0"/>
            <a:ext cx="3036205" cy="46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t" anchorCtr="0" compatLnSpc="1">
            <a:prstTxWarp prst="textNoShape">
              <a:avLst/>
            </a:prstTxWarp>
          </a:bodyPr>
          <a:lstStyle>
            <a:lvl1pPr algn="l" defTabSz="889540">
              <a:defRPr sz="1100" smtClean="0"/>
            </a:lvl1pPr>
          </a:lstStyle>
          <a:p>
            <a:pPr>
              <a:defRPr/>
            </a:pPr>
            <a:endParaRPr lang="en-US" dirty="0"/>
          </a:p>
        </p:txBody>
      </p:sp>
      <p:sp>
        <p:nvSpPr>
          <p:cNvPr id="29699" name="Rectangle 3"/>
          <p:cNvSpPr>
            <a:spLocks noGrp="1" noChangeArrowheads="1"/>
          </p:cNvSpPr>
          <p:nvPr>
            <p:ph type="dt" idx="1"/>
          </p:nvPr>
        </p:nvSpPr>
        <p:spPr bwMode="auto">
          <a:xfrm>
            <a:off x="3972563" y="0"/>
            <a:ext cx="3036205" cy="460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t" anchorCtr="0" compatLnSpc="1">
            <a:prstTxWarp prst="textNoShape">
              <a:avLst/>
            </a:prstTxWarp>
          </a:bodyPr>
          <a:lstStyle>
            <a:lvl1pPr algn="r" defTabSz="889540">
              <a:defRPr sz="1100" smtClean="0"/>
            </a:lvl1pPr>
          </a:lstStyle>
          <a:p>
            <a:pPr>
              <a:defRPr/>
            </a:pPr>
            <a:endParaRPr lang="en-US" dirty="0"/>
          </a:p>
        </p:txBody>
      </p:sp>
      <p:sp>
        <p:nvSpPr>
          <p:cNvPr id="25604" name="Rectangle 4"/>
          <p:cNvSpPr>
            <a:spLocks noGrp="1" noRot="1" noChangeAspect="1" noChangeArrowheads="1" noTextEdit="1"/>
          </p:cNvSpPr>
          <p:nvPr>
            <p:ph type="sldImg" idx="2"/>
          </p:nvPr>
        </p:nvSpPr>
        <p:spPr bwMode="auto">
          <a:xfrm>
            <a:off x="427038" y="693738"/>
            <a:ext cx="6156325"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1" name="Rectangle 5"/>
          <p:cNvSpPr>
            <a:spLocks noGrp="1" noChangeArrowheads="1"/>
          </p:cNvSpPr>
          <p:nvPr>
            <p:ph type="body" sz="quarter" idx="3"/>
          </p:nvPr>
        </p:nvSpPr>
        <p:spPr bwMode="auto">
          <a:xfrm>
            <a:off x="699407" y="4387248"/>
            <a:ext cx="5611588" cy="4154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9702" name="Rectangle 6"/>
          <p:cNvSpPr>
            <a:spLocks noGrp="1" noChangeArrowheads="1"/>
          </p:cNvSpPr>
          <p:nvPr>
            <p:ph type="ftr" sz="quarter" idx="4"/>
          </p:nvPr>
        </p:nvSpPr>
        <p:spPr bwMode="auto">
          <a:xfrm>
            <a:off x="3" y="8775968"/>
            <a:ext cx="3036205" cy="458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b" anchorCtr="0" compatLnSpc="1">
            <a:prstTxWarp prst="textNoShape">
              <a:avLst/>
            </a:prstTxWarp>
          </a:bodyPr>
          <a:lstStyle>
            <a:lvl1pPr algn="l" defTabSz="889540">
              <a:defRPr sz="1100" smtClean="0"/>
            </a:lvl1pPr>
          </a:lstStyle>
          <a:p>
            <a:pPr>
              <a:defRPr/>
            </a:pPr>
            <a:endParaRPr lang="en-US" dirty="0"/>
          </a:p>
        </p:txBody>
      </p:sp>
      <p:sp>
        <p:nvSpPr>
          <p:cNvPr id="29703" name="Rectangle 7"/>
          <p:cNvSpPr>
            <a:spLocks noGrp="1" noChangeArrowheads="1"/>
          </p:cNvSpPr>
          <p:nvPr>
            <p:ph type="sldNum" sz="quarter" idx="5"/>
          </p:nvPr>
        </p:nvSpPr>
        <p:spPr bwMode="auto">
          <a:xfrm>
            <a:off x="3972563" y="8775968"/>
            <a:ext cx="3036205" cy="458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88989" tIns="44493" rIns="88989" bIns="44493" numCol="1" anchor="b" anchorCtr="0" compatLnSpc="1">
            <a:prstTxWarp prst="textNoShape">
              <a:avLst/>
            </a:prstTxWarp>
          </a:bodyPr>
          <a:lstStyle>
            <a:lvl1pPr algn="r" defTabSz="889540">
              <a:defRPr sz="1100" smtClean="0"/>
            </a:lvl1pPr>
          </a:lstStyle>
          <a:p>
            <a:pPr>
              <a:defRPr/>
            </a:pPr>
            <a:fld id="{C0C428FF-E08F-45DE-BAC9-258D4444EC10}" type="slidenum">
              <a:rPr lang="en-US"/>
              <a:pPr>
                <a:defRPr/>
              </a:pPr>
              <a:t>‹#›</a:t>
            </a:fld>
            <a:endParaRPr lang="en-US" dirty="0"/>
          </a:p>
        </p:txBody>
      </p:sp>
    </p:spTree>
    <p:extLst>
      <p:ext uri="{BB962C8B-B14F-4D97-AF65-F5344CB8AC3E}">
        <p14:creationId xmlns:p14="http://schemas.microsoft.com/office/powerpoint/2010/main" val="33764490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1pPr>
    <a:lvl2pPr marL="389626"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2pPr>
    <a:lvl3pPr marL="779252"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3pPr>
    <a:lvl4pPr marL="1168878"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4pPr>
    <a:lvl5pPr marL="1558503" algn="l" rtl="0" eaLnBrk="0" fontAlgn="base" hangingPunct="0">
      <a:spcBef>
        <a:spcPct val="30000"/>
      </a:spcBef>
      <a:spcAft>
        <a:spcPct val="0"/>
      </a:spcAft>
      <a:defRPr sz="1000" kern="1200">
        <a:solidFill>
          <a:schemeClr val="tx1"/>
        </a:solidFill>
        <a:latin typeface="Arial" pitchFamily="34" charset="0"/>
        <a:ea typeface="ヒラギノ角ゴ Pro W3" pitchFamily="124" charset="-128"/>
        <a:cs typeface="Geneva" pitchFamily="34" charset="0"/>
      </a:defRPr>
    </a:lvl5pPr>
    <a:lvl6pPr marL="1948129" algn="l" defTabSz="779252" rtl="0" eaLnBrk="1" latinLnBrk="0" hangingPunct="1">
      <a:defRPr sz="1000" kern="1200">
        <a:solidFill>
          <a:schemeClr val="tx1"/>
        </a:solidFill>
        <a:latin typeface="+mn-lt"/>
        <a:ea typeface="+mn-ea"/>
        <a:cs typeface="+mn-cs"/>
      </a:defRPr>
    </a:lvl6pPr>
    <a:lvl7pPr marL="2337755" algn="l" defTabSz="779252" rtl="0" eaLnBrk="1" latinLnBrk="0" hangingPunct="1">
      <a:defRPr sz="1000" kern="1200">
        <a:solidFill>
          <a:schemeClr val="tx1"/>
        </a:solidFill>
        <a:latin typeface="+mn-lt"/>
        <a:ea typeface="+mn-ea"/>
        <a:cs typeface="+mn-cs"/>
      </a:defRPr>
    </a:lvl7pPr>
    <a:lvl8pPr marL="2727381" algn="l" defTabSz="779252" rtl="0" eaLnBrk="1" latinLnBrk="0" hangingPunct="1">
      <a:defRPr sz="1000" kern="1200">
        <a:solidFill>
          <a:schemeClr val="tx1"/>
        </a:solidFill>
        <a:latin typeface="+mn-lt"/>
        <a:ea typeface="+mn-ea"/>
        <a:cs typeface="+mn-cs"/>
      </a:defRPr>
    </a:lvl8pPr>
    <a:lvl9pPr marL="3117007" algn="l" defTabSz="779252"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0C428FF-E08F-45DE-BAC9-258D4444EC10}" type="slidenum">
              <a:rPr lang="en-US" smtClean="0"/>
              <a:pPr>
                <a:defRPr/>
              </a:pPr>
              <a:t>11</a:t>
            </a:fld>
            <a:endParaRPr lang="en-US" dirty="0"/>
          </a:p>
        </p:txBody>
      </p:sp>
    </p:spTree>
    <p:extLst>
      <p:ext uri="{BB962C8B-B14F-4D97-AF65-F5344CB8AC3E}">
        <p14:creationId xmlns:p14="http://schemas.microsoft.com/office/powerpoint/2010/main" val="19300270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F2F2F2"/>
        </a:solidFill>
        <a:effectLst/>
      </p:bgPr>
    </p:bg>
    <p:spTree>
      <p:nvGrpSpPr>
        <p:cNvPr id="1" name=""/>
        <p:cNvGrpSpPr/>
        <p:nvPr/>
      </p:nvGrpSpPr>
      <p:grpSpPr>
        <a:xfrm>
          <a:off x="0" y="0"/>
          <a:ext cx="0" cy="0"/>
          <a:chOff x="0" y="0"/>
          <a:chExt cx="0" cy="0"/>
        </a:xfrm>
      </p:grpSpPr>
      <p:pic>
        <p:nvPicPr>
          <p:cNvPr id="2062" name="Picture 14" descr="C:\Users\10630824\Desktop\Microot template\poly.e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473099"/>
            <a:ext cx="9153331" cy="467040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84"/>
          <p:cNvSpPr>
            <a:spLocks noGrp="1" noChangeArrowheads="1"/>
          </p:cNvSpPr>
          <p:nvPr>
            <p:ph type="subTitle" idx="1" hasCustomPrompt="1"/>
          </p:nvPr>
        </p:nvSpPr>
        <p:spPr>
          <a:xfrm>
            <a:off x="1348105" y="3230193"/>
            <a:ext cx="5556738" cy="221456"/>
          </a:xfrm>
          <a:ln>
            <a:noFill/>
          </a:ln>
        </p:spPr>
        <p:txBody>
          <a:bodyPr anchor="ctr" anchorCtr="0"/>
          <a:lstStyle>
            <a:lvl1pPr marL="0" indent="0">
              <a:buFont typeface="Symbol" pitchFamily="18" charset="2"/>
              <a:buNone/>
              <a:defRPr sz="1600" b="0" i="0">
                <a:solidFill>
                  <a:srgbClr val="ED8B00"/>
                </a:solidFill>
                <a:latin typeface="Calibri Light"/>
                <a:cs typeface="Calibri Light"/>
              </a:defRPr>
            </a:lvl1pPr>
          </a:lstStyle>
          <a:p>
            <a:pPr lvl="0"/>
            <a:r>
              <a:rPr lang="en-US" noProof="0" dirty="0"/>
              <a:t>Click to Edit Master Subtitle Style</a:t>
            </a:r>
          </a:p>
        </p:txBody>
      </p:sp>
      <p:sp>
        <p:nvSpPr>
          <p:cNvPr id="11" name="Rectangle 83"/>
          <p:cNvSpPr>
            <a:spLocks noGrp="1" noChangeArrowheads="1"/>
          </p:cNvSpPr>
          <p:nvPr>
            <p:ph type="ctrTitle" hasCustomPrompt="1"/>
          </p:nvPr>
        </p:nvSpPr>
        <p:spPr>
          <a:xfrm>
            <a:off x="1348105" y="2269550"/>
            <a:ext cx="5561624" cy="430887"/>
          </a:xfrm>
          <a:noFill/>
          <a:ln w="9525">
            <a:noFill/>
            <a:miter lim="800000"/>
            <a:headEnd/>
            <a:tailEnd/>
          </a:ln>
          <a:extLst/>
        </p:spPr>
        <p:txBody>
          <a:bodyPr anchor="t"/>
          <a:lstStyle>
            <a:lvl1pPr>
              <a:defRPr sz="2700" b="0" i="0">
                <a:solidFill>
                  <a:srgbClr val="2C2D8B"/>
                </a:solidFill>
                <a:latin typeface="Calibri Light"/>
                <a:cs typeface="Calibri Light"/>
              </a:defRPr>
            </a:lvl1pPr>
          </a:lstStyle>
          <a:p>
            <a:pPr lvl="0"/>
            <a:r>
              <a:rPr lang="en-US" noProof="0" dirty="0"/>
              <a:t>Click to Edit Master Title Style</a:t>
            </a:r>
          </a:p>
        </p:txBody>
      </p:sp>
      <p:pic>
        <p:nvPicPr>
          <p:cNvPr id="16"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auto">
          <a:xfrm>
            <a:off x="6529817" y="4577667"/>
            <a:ext cx="1369306" cy="25412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30317" y="282698"/>
            <a:ext cx="684153" cy="510622"/>
          </a:xfrm>
          <a:prstGeom prst="rect">
            <a:avLst/>
          </a:prstGeom>
        </p:spPr>
      </p:pic>
      <p:pic>
        <p:nvPicPr>
          <p:cNvPr id="18" name="Picture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66334" y="357510"/>
            <a:ext cx="641149" cy="360999"/>
          </a:xfrm>
          <a:prstGeom prst="rect">
            <a:avLst/>
          </a:prstGeom>
        </p:spPr>
      </p:pic>
    </p:spTree>
    <p:extLst>
      <p:ext uri="{BB962C8B-B14F-4D97-AF65-F5344CB8AC3E}">
        <p14:creationId xmlns:p14="http://schemas.microsoft.com/office/powerpoint/2010/main" val="23197057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58189" y="940222"/>
            <a:ext cx="8615227" cy="372508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p:cNvSpPr>
            <a:spLocks noGrp="1"/>
          </p:cNvSpPr>
          <p:nvPr>
            <p:ph type="title" hasCustomPrompt="1"/>
          </p:nvPr>
        </p:nvSpPr>
        <p:spPr>
          <a:xfrm>
            <a:off x="269878" y="240427"/>
            <a:ext cx="8024283" cy="384721"/>
          </a:xfrm>
          <a:noFill/>
          <a:ln>
            <a:noFill/>
          </a:ln>
        </p:spPr>
        <p:txBody>
          <a:bodyPr/>
          <a:lstStyle>
            <a:lvl1pPr>
              <a:defRPr b="0"/>
            </a:lvl1pPr>
          </a:lstStyle>
          <a:p>
            <a:r>
              <a:rPr lang="en-US" dirty="0"/>
              <a:t>Click to Edit Master Title Style</a:t>
            </a:r>
          </a:p>
        </p:txBody>
      </p:sp>
      <p:pic>
        <p:nvPicPr>
          <p:cNvPr id="5" name="Picture 2" descr="C:\Users\10630824\Desktop\Microot template\LTI logo (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3" descr="C:\Users\10630824\Desktop\Microot template\corners (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userDrawn="1"/>
        </p:nvSpPr>
        <p:spPr>
          <a:xfrm>
            <a:off x="8499435" y="4824116"/>
            <a:ext cx="364703" cy="276999"/>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200" b="0" i="0" u="none" strike="noStrike" kern="1200" cap="none" spc="0" normalizeH="0" baseline="0" noProof="0" smtClean="0">
                <a:ln>
                  <a:noFill/>
                </a:ln>
                <a:solidFill>
                  <a:schemeClr val="bg1"/>
                </a:solidFill>
                <a:effectLst/>
                <a:uLnTx/>
                <a:uFillTx/>
                <a:latin typeface="Calibri Light"/>
                <a:cs typeface="Calibri Light"/>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00" b="0" i="0" u="none" strike="noStrike" kern="1200" cap="none" spc="0" normalizeH="0" baseline="0" noProof="0" dirty="0">
              <a:ln>
                <a:noFill/>
              </a:ln>
              <a:solidFill>
                <a:schemeClr val="bg1"/>
              </a:solidFill>
              <a:effectLst/>
              <a:uLnTx/>
              <a:uFillTx/>
              <a:latin typeface="Calibri Light"/>
              <a:cs typeface="Calibri Light"/>
            </a:endParaRPr>
          </a:p>
        </p:txBody>
      </p:sp>
      <p:pic>
        <p:nvPicPr>
          <p:cNvPr id="8" name="Picture 4" descr="C:\Users\10630824\Desktop\Microot template\corners (2).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flipH="1">
            <a:off x="-25392" y="-30236"/>
            <a:ext cx="688705" cy="699796"/>
          </a:xfrm>
          <a:prstGeom prst="rect">
            <a:avLst/>
          </a:prstGeom>
          <a:noFill/>
          <a:extLst>
            <a:ext uri="{909E8E84-426E-40DD-AFC4-6F175D3DCCD1}">
              <a14:hiddenFill xmlns:a14="http://schemas.microsoft.com/office/drawing/2010/main">
                <a:solidFill>
                  <a:srgbClr val="FFFFFF"/>
                </a:solidFill>
              </a14:hiddenFill>
            </a:ext>
          </a:extLst>
        </p:spPr>
      </p:pic>
      <p:sp>
        <p:nvSpPr>
          <p:cNvPr id="12" name="Content Placeholder 11"/>
          <p:cNvSpPr>
            <a:spLocks noGrp="1"/>
          </p:cNvSpPr>
          <p:nvPr>
            <p:ph sz="quarter" idx="10" hasCustomPrompt="1"/>
          </p:nvPr>
        </p:nvSpPr>
        <p:spPr>
          <a:xfrm>
            <a:off x="343291" y="681005"/>
            <a:ext cx="7964402" cy="188523"/>
          </a:xfrm>
        </p:spPr>
        <p:txBody>
          <a:bodyPr/>
          <a:lstStyle>
            <a:lvl1pPr marL="0" indent="0">
              <a:buNone/>
              <a:defRPr sz="1200" b="0" baseline="0">
                <a:solidFill>
                  <a:srgbClr val="ED8B00"/>
                </a:solidFill>
              </a:defRPr>
            </a:lvl1pPr>
          </a:lstStyle>
          <a:p>
            <a:pPr lvl="0"/>
            <a:r>
              <a:rPr lang="en-US" dirty="0"/>
              <a:t>Secondary title place holder</a:t>
            </a:r>
          </a:p>
        </p:txBody>
      </p:sp>
      <p:sp>
        <p:nvSpPr>
          <p:cNvPr id="11" name="TextBox 10"/>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spTree>
    <p:extLst>
      <p:ext uri="{BB962C8B-B14F-4D97-AF65-F5344CB8AC3E}">
        <p14:creationId xmlns:p14="http://schemas.microsoft.com/office/powerpoint/2010/main" val="41161092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0"/>
            </a:lvl1pPr>
          </a:lstStyle>
          <a:p>
            <a:r>
              <a:rPr lang="en-US" dirty="0"/>
              <a:t>Click to Edit Master Title Style</a:t>
            </a:r>
          </a:p>
        </p:txBody>
      </p:sp>
      <p:sp>
        <p:nvSpPr>
          <p:cNvPr id="3" name="Content Placeholder 2"/>
          <p:cNvSpPr>
            <a:spLocks noGrp="1"/>
          </p:cNvSpPr>
          <p:nvPr>
            <p:ph sz="half" idx="1"/>
          </p:nvPr>
        </p:nvSpPr>
        <p:spPr>
          <a:xfrm>
            <a:off x="140677" y="971550"/>
            <a:ext cx="4290646" cy="3657600"/>
          </a:xfrm>
        </p:spPr>
        <p:txBody>
          <a:bodyPr/>
          <a:lstStyle>
            <a:lvl1pPr>
              <a:defRPr sz="1400"/>
            </a:lvl1pPr>
            <a:lvl2pPr>
              <a:defRPr sz="1400"/>
            </a:lvl2pPr>
            <a:lvl3pPr>
              <a:defRPr sz="1400"/>
            </a:lvl3pPr>
            <a:lvl4pPr>
              <a:defRPr sz="1400"/>
            </a:lvl4pPr>
            <a:lvl5pPr>
              <a:defRPr sz="14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12677" y="971550"/>
            <a:ext cx="4290646" cy="3657600"/>
          </a:xfrm>
        </p:spPr>
        <p:txBody>
          <a:bodyPr/>
          <a:lstStyle>
            <a:lvl1pPr>
              <a:defRPr sz="1400"/>
            </a:lvl1pPr>
            <a:lvl2pPr>
              <a:defRPr sz="1400"/>
            </a:lvl2pPr>
            <a:lvl3pPr>
              <a:defRPr sz="1400"/>
            </a:lvl3pPr>
            <a:lvl4pPr>
              <a:defRPr sz="1400"/>
            </a:lvl4pPr>
            <a:lvl5pPr>
              <a:defRPr sz="14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2" descr="C:\Users\10630824\Desktop\Microot template\LTI logo (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10630824\Desktop\Microot template\corners (3).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8499435" y="4824116"/>
            <a:ext cx="364703" cy="276999"/>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200" b="0" i="0" u="none" strike="noStrike" kern="1200" cap="none" spc="0" normalizeH="0" baseline="0" noProof="0" smtClean="0">
                <a:ln>
                  <a:noFill/>
                </a:ln>
                <a:solidFill>
                  <a:schemeClr val="bg1"/>
                </a:solidFill>
                <a:effectLst/>
                <a:uLnTx/>
                <a:uFillTx/>
                <a:latin typeface="Calibri Light"/>
                <a:cs typeface="Calibri Light"/>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00" b="0" i="0" u="none" strike="noStrike" kern="1200" cap="none" spc="0" normalizeH="0" baseline="0" noProof="0" dirty="0">
              <a:ln>
                <a:noFill/>
              </a:ln>
              <a:solidFill>
                <a:schemeClr val="bg1"/>
              </a:solidFill>
              <a:effectLst/>
              <a:uLnTx/>
              <a:uFillTx/>
              <a:latin typeface="Calibri Light"/>
              <a:cs typeface="Calibri Light"/>
            </a:endParaRPr>
          </a:p>
        </p:txBody>
      </p:sp>
      <p:pic>
        <p:nvPicPr>
          <p:cNvPr id="9" name="Picture 4" descr="C:\Users\10630824\Desktop\Microot template\corners (2).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flipH="1">
            <a:off x="-25392" y="-30236"/>
            <a:ext cx="688705" cy="69979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spTree>
    <p:extLst>
      <p:ext uri="{BB962C8B-B14F-4D97-AF65-F5344CB8AC3E}">
        <p14:creationId xmlns:p14="http://schemas.microsoft.com/office/powerpoint/2010/main" val="178163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rgbClr val="F2F2F2"/>
        </a:solidFill>
        <a:effectLst/>
      </p:bgPr>
    </p:bg>
    <p:spTree>
      <p:nvGrpSpPr>
        <p:cNvPr id="1" name=""/>
        <p:cNvGrpSpPr/>
        <p:nvPr/>
      </p:nvGrpSpPr>
      <p:grpSpPr>
        <a:xfrm>
          <a:off x="0" y="0"/>
          <a:ext cx="0" cy="0"/>
          <a:chOff x="0" y="0"/>
          <a:chExt cx="0" cy="0"/>
        </a:xfrm>
      </p:grpSpPr>
      <p:pic>
        <p:nvPicPr>
          <p:cNvPr id="2062" name="Picture 14" descr="C:\Users\10630824\Desktop\Microot template\poly.emf"/>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332" y="456328"/>
            <a:ext cx="9153331" cy="4670401"/>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83"/>
          <p:cNvSpPr>
            <a:spLocks noGrp="1" noChangeArrowheads="1"/>
          </p:cNvSpPr>
          <p:nvPr>
            <p:ph type="ctrTitle" hasCustomPrompt="1"/>
          </p:nvPr>
        </p:nvSpPr>
        <p:spPr>
          <a:xfrm>
            <a:off x="1348105" y="2269550"/>
            <a:ext cx="5561624" cy="430887"/>
          </a:xfrm>
          <a:noFill/>
          <a:ln w="9525">
            <a:noFill/>
            <a:miter lim="800000"/>
            <a:headEnd/>
            <a:tailEnd/>
          </a:ln>
          <a:extLst/>
        </p:spPr>
        <p:txBody>
          <a:bodyPr anchor="t"/>
          <a:lstStyle>
            <a:lvl1pPr>
              <a:defRPr sz="2700" b="0" i="0">
                <a:solidFill>
                  <a:srgbClr val="2C2D8B"/>
                </a:solidFill>
                <a:latin typeface="Calibri Light"/>
                <a:cs typeface="Calibri Light"/>
              </a:defRPr>
            </a:lvl1pPr>
          </a:lstStyle>
          <a:p>
            <a:pPr lvl="0"/>
            <a:r>
              <a:rPr lang="en-US" noProof="0" dirty="0"/>
              <a:t>Click to Edit Master Title Style</a:t>
            </a:r>
          </a:p>
        </p:txBody>
      </p:sp>
    </p:spTree>
    <p:extLst>
      <p:ext uri="{BB962C8B-B14F-4D97-AF65-F5344CB8AC3E}">
        <p14:creationId xmlns:p14="http://schemas.microsoft.com/office/powerpoint/2010/main" val="2071532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0"/>
            </a:lvl1pPr>
          </a:lstStyle>
          <a:p>
            <a:r>
              <a:rPr lang="en-US" dirty="0"/>
              <a:t>Click to Edit Master Title Style</a:t>
            </a:r>
          </a:p>
        </p:txBody>
      </p:sp>
      <p:pic>
        <p:nvPicPr>
          <p:cNvPr id="5" name="Picture 3" descr="C:\Users\10630824\Desktop\Microot template\corners (3).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8483655" y="4824116"/>
            <a:ext cx="396263" cy="307777"/>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400" b="0" i="0" u="none" strike="noStrike" kern="1200" cap="none" spc="0" normalizeH="0" baseline="0" noProof="0" smtClean="0">
                <a:ln>
                  <a:noFill/>
                </a:ln>
                <a:solidFill>
                  <a:schemeClr val="bg1"/>
                </a:solidFill>
                <a:effectLst/>
                <a:uLnTx/>
                <a:uFillTx/>
                <a:latin typeface="Calibri Light"/>
                <a:cs typeface="Calibri Light"/>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50" b="0" i="0" u="none" strike="noStrike" kern="1200" cap="none" spc="0" normalizeH="0" baseline="0" noProof="0" dirty="0">
              <a:ln>
                <a:noFill/>
              </a:ln>
              <a:solidFill>
                <a:schemeClr val="bg1"/>
              </a:solidFill>
              <a:effectLst/>
              <a:uLnTx/>
              <a:uFillTx/>
              <a:latin typeface="Calibri Light"/>
              <a:cs typeface="Calibri Light"/>
            </a:endParaRPr>
          </a:p>
        </p:txBody>
      </p:sp>
      <p:pic>
        <p:nvPicPr>
          <p:cNvPr id="7" name="Picture 4" descr="C:\Users\10630824\Desktop\Microot template\corners (2).pn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flipH="1">
            <a:off x="-25392" y="-30236"/>
            <a:ext cx="688705" cy="69979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pic>
        <p:nvPicPr>
          <p:cNvPr id="9" name="Picture 2" descr="C:\Users\10630824\Desktop\Microot template\LTI logo (2).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2343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4767263"/>
            <a:ext cx="2057400" cy="274637"/>
          </a:xfrm>
          <a:prstGeom prst="rect">
            <a:avLst/>
          </a:prstGeom>
        </p:spPr>
        <p:txBody>
          <a:bodyPr/>
          <a:lstStyle/>
          <a:p>
            <a:fld id="{14E39C5E-3938-484F-9F2C-43A53F2F2C23}" type="datetimeFigureOut">
              <a:rPr lang="en-US" smtClean="0"/>
              <a:t>1/5/2018</a:t>
            </a:fld>
            <a:endParaRPr lang="en-US" dirty="0"/>
          </a:p>
        </p:txBody>
      </p:sp>
      <p:sp>
        <p:nvSpPr>
          <p:cNvPr id="3" name="Footer Placeholder 2"/>
          <p:cNvSpPr>
            <a:spLocks noGrp="1"/>
          </p:cNvSpPr>
          <p:nvPr>
            <p:ph type="ftr" sz="quarter" idx="11"/>
          </p:nvPr>
        </p:nvSpPr>
        <p:spPr>
          <a:xfrm>
            <a:off x="3028950" y="4767263"/>
            <a:ext cx="3086100" cy="274637"/>
          </a:xfrm>
          <a:prstGeom prst="rect">
            <a:avLst/>
          </a:prstGeom>
        </p:spPr>
        <p:txBody>
          <a:bodyPr/>
          <a:lstStyle/>
          <a:p>
            <a:endParaRPr lang="en-US" dirty="0"/>
          </a:p>
        </p:txBody>
      </p:sp>
      <p:sp>
        <p:nvSpPr>
          <p:cNvPr id="4" name="Slide Number Placeholder 3"/>
          <p:cNvSpPr>
            <a:spLocks noGrp="1"/>
          </p:cNvSpPr>
          <p:nvPr>
            <p:ph type="sldNum" sz="quarter" idx="12"/>
          </p:nvPr>
        </p:nvSpPr>
        <p:spPr>
          <a:xfrm>
            <a:off x="6457950" y="4767263"/>
            <a:ext cx="2057400" cy="274637"/>
          </a:xfrm>
          <a:prstGeom prst="rect">
            <a:avLst/>
          </a:prstGeom>
        </p:spPr>
        <p:txBody>
          <a:bodyPr/>
          <a:lstStyle/>
          <a:p>
            <a:fld id="{2F87D1DA-C60F-764E-8590-C8E0B173BBAB}" type="slidenum">
              <a:rPr lang="en-US" smtClean="0"/>
              <a:t>‹#›</a:t>
            </a:fld>
            <a:endParaRPr lang="en-US" dirty="0"/>
          </a:p>
        </p:txBody>
      </p:sp>
    </p:spTree>
    <p:extLst>
      <p:ext uri="{BB962C8B-B14F-4D97-AF65-F5344CB8AC3E}">
        <p14:creationId xmlns:p14="http://schemas.microsoft.com/office/powerpoint/2010/main" val="1033562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1026" name="Rectangle 84"/>
          <p:cNvSpPr>
            <a:spLocks noGrp="1" noChangeArrowheads="1"/>
          </p:cNvSpPr>
          <p:nvPr>
            <p:ph type="body" idx="1"/>
          </p:nvPr>
        </p:nvSpPr>
        <p:spPr bwMode="gray">
          <a:xfrm>
            <a:off x="258189" y="731070"/>
            <a:ext cx="8615227" cy="39342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p:txBody>
      </p:sp>
      <p:sp>
        <p:nvSpPr>
          <p:cNvPr id="1029" name="Rectangle 83"/>
          <p:cNvSpPr>
            <a:spLocks noGrp="1" noChangeArrowheads="1"/>
          </p:cNvSpPr>
          <p:nvPr>
            <p:ph type="title"/>
          </p:nvPr>
        </p:nvSpPr>
        <p:spPr bwMode="gray">
          <a:xfrm>
            <a:off x="269878" y="240427"/>
            <a:ext cx="8594260" cy="384721"/>
          </a:xfrm>
          <a:prstGeom prst="rect">
            <a:avLst/>
          </a:prstGeom>
          <a:noFill/>
          <a:ln w="12700">
            <a:noFill/>
            <a:miter lim="800000"/>
            <a:headEnd/>
            <a:tailEnd/>
          </a:ln>
        </p:spPr>
        <p:txBody>
          <a:bodyPr vert="horz" wrap="square" lIns="0" tIns="0" rIns="0" bIns="0" numCol="1" anchor="t" anchorCtr="0" compatLnSpc="1">
            <a:prstTxWarp prst="textNoShape">
              <a:avLst/>
            </a:prstTxWarp>
            <a:spAutoFit/>
          </a:bodyPr>
          <a:lstStyle/>
          <a:p>
            <a:pPr lvl="0"/>
            <a:r>
              <a:rPr lang="en-US" dirty="0"/>
              <a:t>Click to Edit Master Title</a:t>
            </a:r>
          </a:p>
        </p:txBody>
      </p:sp>
      <p:sp>
        <p:nvSpPr>
          <p:cNvPr id="15" name="TextBox 14"/>
          <p:cNvSpPr txBox="1"/>
          <p:nvPr userDrawn="1"/>
        </p:nvSpPr>
        <p:spPr>
          <a:xfrm>
            <a:off x="3086252" y="4849624"/>
            <a:ext cx="2959099" cy="215444"/>
          </a:xfrm>
          <a:prstGeom prst="rect">
            <a:avLst/>
          </a:prstGeom>
          <a:noFill/>
        </p:spPr>
        <p:txBody>
          <a:bodyPr wrap="square" rtlCol="0">
            <a:spAutoFit/>
          </a:bodyPr>
          <a:lstStyle/>
          <a:p>
            <a:pPr algn="ctr"/>
            <a:r>
              <a:rPr lang="en-US" sz="800" dirty="0">
                <a:solidFill>
                  <a:srgbClr val="7C7C7C"/>
                </a:solidFill>
                <a:latin typeface="Calibri Light"/>
                <a:cs typeface="Calibri Light"/>
              </a:rPr>
              <a:t>©Larsen &amp; Toubro Infotech Ltd. Privileged and Confidential</a:t>
            </a:r>
          </a:p>
        </p:txBody>
      </p:sp>
      <p:pic>
        <p:nvPicPr>
          <p:cNvPr id="2" name="Picture 2" descr="C:\Users\10630824\Desktop\Microot template\LTI logo (2).png"/>
          <p:cNvPicPr>
            <a:picLocks noChangeAspect="1" noChangeArrowheads="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214604" y="4755049"/>
            <a:ext cx="426695" cy="249287"/>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10630824\Desktop\Microot template\corners (3).png"/>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7856377" y="3907747"/>
            <a:ext cx="1430176" cy="164916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userDrawn="1"/>
        </p:nvSpPr>
        <p:spPr>
          <a:xfrm>
            <a:off x="8483655" y="4824116"/>
            <a:ext cx="396263" cy="307777"/>
          </a:xfrm>
          <a:prstGeom prst="rect">
            <a:avLst/>
          </a:prstGeom>
        </p:spPr>
        <p:txBody>
          <a:bodyPr wrap="none">
            <a:spAutoFit/>
          </a:bodyPr>
          <a:lstStyle/>
          <a:p>
            <a:pPr marL="0" marR="0" lvl="0" indent="0" algn="ctr" defTabSz="457200" rtl="0" eaLnBrk="1" fontAlgn="base" latinLnBrk="0" hangingPunct="1">
              <a:lnSpc>
                <a:spcPct val="100000"/>
              </a:lnSpc>
              <a:spcBef>
                <a:spcPct val="0"/>
              </a:spcBef>
              <a:spcAft>
                <a:spcPct val="0"/>
              </a:spcAft>
              <a:buClrTx/>
              <a:buSzTx/>
              <a:buFontTx/>
              <a:buNone/>
              <a:tabLst/>
              <a:defRPr/>
            </a:pPr>
            <a:fld id="{9C5957C0-C9FD-924F-A662-3B71DAE40C56}" type="slidenum">
              <a:rPr kumimoji="0" lang="uk-UA" sz="1400" b="0" i="0" u="none" strike="noStrike" kern="1200" cap="none" spc="0" normalizeH="0" baseline="0" noProof="0" smtClean="0">
                <a:ln>
                  <a:noFill/>
                </a:ln>
                <a:solidFill>
                  <a:schemeClr val="bg1"/>
                </a:solidFill>
                <a:effectLst/>
                <a:uLnTx/>
                <a:uFillTx/>
                <a:latin typeface="Calibri Light" charset="0"/>
                <a:ea typeface="Calibri Light" charset="0"/>
                <a:cs typeface="Calibri Light" charset="0"/>
              </a:rPr>
              <a:pPr marL="0" marR="0" lvl="0" indent="0" algn="ctr" defTabSz="457200" rtl="0" eaLnBrk="1" fontAlgn="base" latinLnBrk="0" hangingPunct="1">
                <a:lnSpc>
                  <a:spcPct val="100000"/>
                </a:lnSpc>
                <a:spcBef>
                  <a:spcPct val="0"/>
                </a:spcBef>
                <a:spcAft>
                  <a:spcPct val="0"/>
                </a:spcAft>
                <a:buClrTx/>
                <a:buSzTx/>
                <a:buFontTx/>
                <a:buNone/>
                <a:tabLst/>
                <a:defRPr/>
              </a:pPr>
              <a:t>‹#›</a:t>
            </a:fld>
            <a:endParaRPr kumimoji="0" lang="uk-UA" sz="1000" b="0" i="0" u="none" strike="noStrike" kern="1200" cap="none" spc="0" normalizeH="0" baseline="0" noProof="0" dirty="0">
              <a:ln>
                <a:noFill/>
              </a:ln>
              <a:solidFill>
                <a:schemeClr val="bg1"/>
              </a:solidFill>
              <a:effectLst/>
              <a:uLnTx/>
              <a:uFillTx/>
              <a:latin typeface="Calibri Light" charset="0"/>
              <a:ea typeface="Calibri Light" charset="0"/>
              <a:cs typeface="Calibri Light" charset="0"/>
            </a:endParaRPr>
          </a:p>
        </p:txBody>
      </p:sp>
      <p:pic>
        <p:nvPicPr>
          <p:cNvPr id="1028" name="Picture 4" descr="C:\Users\10630824\Desktop\Microot template\corners (2).png"/>
          <p:cNvPicPr>
            <a:picLocks noChangeAspect="1" noChangeArrowheads="1"/>
          </p:cNvPicPr>
          <p:nvPr userDrawn="1"/>
        </p:nvPicPr>
        <p:blipFill>
          <a:blip r:embed="rId9">
            <a:extLst>
              <a:ext uri="{28A0092B-C50C-407E-A947-70E740481C1C}">
                <a14:useLocalDpi xmlns:a14="http://schemas.microsoft.com/office/drawing/2010/main" val="0"/>
              </a:ext>
            </a:extLst>
          </a:blip>
          <a:srcRect/>
          <a:stretch>
            <a:fillRect/>
          </a:stretch>
        </p:blipFill>
        <p:spPr bwMode="auto">
          <a:xfrm flipH="1">
            <a:off x="-18304" y="-37324"/>
            <a:ext cx="688705" cy="69979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80" r:id="rId4"/>
    <p:sldLayoutId id="2147483665" r:id="rId5"/>
  </p:sldLayoutIdLst>
  <p:hf hdr="0" ftr="0" dt="0"/>
  <p:txStyles>
    <p:titleStyle>
      <a:lvl1pPr algn="l" rtl="0" eaLnBrk="1" fontAlgn="base" hangingPunct="1">
        <a:spcBef>
          <a:spcPct val="0"/>
        </a:spcBef>
        <a:spcAft>
          <a:spcPct val="0"/>
        </a:spcAft>
        <a:defRPr sz="2500" b="0" i="0" baseline="0">
          <a:solidFill>
            <a:srgbClr val="2C2D8B"/>
          </a:solidFill>
          <a:latin typeface="Calibri Light"/>
          <a:ea typeface="+mj-ea"/>
          <a:cs typeface="Calibri Light"/>
        </a:defRPr>
      </a:lvl1pPr>
      <a:lvl2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2pPr>
      <a:lvl3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3pPr>
      <a:lvl4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4pPr>
      <a:lvl5pPr algn="l" rtl="0" eaLnBrk="1" fontAlgn="base" hangingPunct="1">
        <a:spcBef>
          <a:spcPct val="0"/>
        </a:spcBef>
        <a:spcAft>
          <a:spcPct val="0"/>
        </a:spcAft>
        <a:defRPr sz="2000">
          <a:solidFill>
            <a:schemeClr val="accent1"/>
          </a:solidFill>
          <a:latin typeface="Arial" pitchFamily="34" charset="0"/>
          <a:ea typeface="STKaiti" pitchFamily="2" charset="-122"/>
          <a:cs typeface="Geneva" pitchFamily="34" charset="0"/>
        </a:defRPr>
      </a:lvl5pPr>
      <a:lvl6pPr marL="389626"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6pPr>
      <a:lvl7pPr marL="779252"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7pPr>
      <a:lvl8pPr marL="1168878"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8pPr>
      <a:lvl9pPr marL="1558503" algn="l" rtl="0" eaLnBrk="1" fontAlgn="base" hangingPunct="1">
        <a:spcBef>
          <a:spcPct val="0"/>
        </a:spcBef>
        <a:spcAft>
          <a:spcPct val="0"/>
        </a:spcAft>
        <a:defRPr sz="2000">
          <a:solidFill>
            <a:schemeClr val="accent1"/>
          </a:solidFill>
          <a:latin typeface="Arial" pitchFamily="34" charset="0"/>
          <a:ea typeface="ヒラギノ角ゴ Pro W3" pitchFamily="124" charset="-128"/>
          <a:cs typeface="Geneva" pitchFamily="34" charset="0"/>
        </a:defRPr>
      </a:lvl9pPr>
    </p:titleStyle>
    <p:bodyStyle>
      <a:lvl1pPr marL="146110" indent="-146110" algn="l" defTabSz="1566621" rtl="0" eaLnBrk="1" fontAlgn="base" hangingPunct="1">
        <a:spcBef>
          <a:spcPct val="75000"/>
        </a:spcBef>
        <a:spcAft>
          <a:spcPct val="0"/>
        </a:spcAft>
        <a:buClrTx/>
        <a:buFont typeface="Wingdings" charset="2"/>
        <a:buChar char="§"/>
        <a:defRPr sz="1600" b="0" i="0">
          <a:solidFill>
            <a:srgbClr val="000000"/>
          </a:solidFill>
          <a:latin typeface="Calibri Light"/>
          <a:ea typeface="+mn-ea"/>
          <a:cs typeface="Calibri Light"/>
        </a:defRPr>
      </a:lvl1pPr>
      <a:lvl2pPr marL="293573" indent="-146110" algn="l" defTabSz="1566621" rtl="0" eaLnBrk="1" fontAlgn="base" hangingPunct="1">
        <a:spcBef>
          <a:spcPct val="25000"/>
        </a:spcBef>
        <a:spcAft>
          <a:spcPct val="0"/>
        </a:spcAft>
        <a:buClrTx/>
        <a:buSzPct val="80000"/>
        <a:buFont typeface="Wingdings" charset="2"/>
        <a:buChar char="§"/>
        <a:defRPr sz="1600" b="0" i="0">
          <a:solidFill>
            <a:srgbClr val="000000"/>
          </a:solidFill>
          <a:latin typeface="Calibri Light"/>
          <a:ea typeface="+mn-ea"/>
          <a:cs typeface="Calibri Light"/>
        </a:defRPr>
      </a:lvl2pPr>
      <a:lvl3pPr marL="441035" indent="-146110" algn="l" defTabSz="1566621" rtl="0" eaLnBrk="1" fontAlgn="base" hangingPunct="1">
        <a:spcBef>
          <a:spcPct val="25000"/>
        </a:spcBef>
        <a:spcAft>
          <a:spcPct val="0"/>
        </a:spcAft>
        <a:buClrTx/>
        <a:buSzPct val="70000"/>
        <a:buFont typeface="Wingdings" charset="2"/>
        <a:buChar char="§"/>
        <a:defRPr sz="1600" b="0" i="0">
          <a:solidFill>
            <a:srgbClr val="000000"/>
          </a:solidFill>
          <a:latin typeface="Calibri Light"/>
          <a:ea typeface="+mn-ea"/>
          <a:cs typeface="Calibri Light"/>
        </a:defRPr>
      </a:lvl3pPr>
      <a:lvl4pPr marL="584439" indent="-142052" algn="l" defTabSz="1566621" rtl="0" eaLnBrk="1" fontAlgn="base" hangingPunct="1">
        <a:spcBef>
          <a:spcPct val="25000"/>
        </a:spcBef>
        <a:spcAft>
          <a:spcPct val="0"/>
        </a:spcAft>
        <a:buClrTx/>
        <a:buFont typeface="Arial"/>
        <a:buChar char="•"/>
        <a:defRPr sz="1600" b="0" i="0">
          <a:solidFill>
            <a:srgbClr val="000000"/>
          </a:solidFill>
          <a:latin typeface="Calibri Light"/>
          <a:ea typeface="+mn-ea"/>
          <a:cs typeface="Calibri Light"/>
        </a:defRPr>
      </a:lvl4pPr>
      <a:lvl5pPr marL="726490" indent="-140698" algn="l" defTabSz="1566621" rtl="0" eaLnBrk="1" fontAlgn="base" hangingPunct="1">
        <a:spcBef>
          <a:spcPct val="25000"/>
        </a:spcBef>
        <a:spcAft>
          <a:spcPct val="0"/>
        </a:spcAft>
        <a:buClrTx/>
        <a:buFont typeface="Arial"/>
        <a:buChar char="•"/>
        <a:defRPr sz="1600" b="0" i="0">
          <a:solidFill>
            <a:srgbClr val="000000"/>
          </a:solidFill>
          <a:latin typeface="Calibri Light"/>
          <a:ea typeface="+mn-ea"/>
          <a:cs typeface="Calibri Light"/>
        </a:defRPr>
      </a:lvl5pPr>
      <a:lvl6pPr marL="1116116"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6pPr>
      <a:lvl7pPr marL="1505742"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7pPr>
      <a:lvl8pPr marL="1895368"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8pPr>
      <a:lvl9pPr marL="2284994" indent="-140698" algn="l" defTabSz="1566621" rtl="0" eaLnBrk="1" fontAlgn="base" hangingPunct="1">
        <a:spcBef>
          <a:spcPct val="25000"/>
        </a:spcBef>
        <a:spcAft>
          <a:spcPct val="0"/>
        </a:spcAft>
        <a:buClr>
          <a:schemeClr val="tx2"/>
        </a:buClr>
        <a:buFont typeface="Symbol" pitchFamily="18" charset="2"/>
        <a:buChar char="·"/>
        <a:defRPr sz="1200">
          <a:solidFill>
            <a:srgbClr val="53565A"/>
          </a:solidFill>
          <a:latin typeface="+mn-lt"/>
          <a:ea typeface="+mn-ea"/>
          <a:cs typeface="+mn-cs"/>
        </a:defRPr>
      </a:lvl9pPr>
    </p:bodyStyle>
    <p:otherStyle>
      <a:defPPr>
        <a:defRPr lang="en-US"/>
      </a:defPPr>
      <a:lvl1pPr marL="0" algn="l" defTabSz="779252" rtl="0" eaLnBrk="1" latinLnBrk="0" hangingPunct="1">
        <a:defRPr sz="1500" kern="1200">
          <a:solidFill>
            <a:schemeClr val="tx1"/>
          </a:solidFill>
          <a:latin typeface="+mn-lt"/>
          <a:ea typeface="+mn-ea"/>
          <a:cs typeface="+mn-cs"/>
        </a:defRPr>
      </a:lvl1pPr>
      <a:lvl2pPr marL="389626" algn="l" defTabSz="779252" rtl="0" eaLnBrk="1" latinLnBrk="0" hangingPunct="1">
        <a:defRPr sz="1500" kern="1200">
          <a:solidFill>
            <a:schemeClr val="tx1"/>
          </a:solidFill>
          <a:latin typeface="+mn-lt"/>
          <a:ea typeface="+mn-ea"/>
          <a:cs typeface="+mn-cs"/>
        </a:defRPr>
      </a:lvl2pPr>
      <a:lvl3pPr marL="779252" algn="l" defTabSz="779252" rtl="0" eaLnBrk="1" latinLnBrk="0" hangingPunct="1">
        <a:defRPr sz="1500" kern="1200">
          <a:solidFill>
            <a:schemeClr val="tx1"/>
          </a:solidFill>
          <a:latin typeface="+mn-lt"/>
          <a:ea typeface="+mn-ea"/>
          <a:cs typeface="+mn-cs"/>
        </a:defRPr>
      </a:lvl3pPr>
      <a:lvl4pPr marL="1168878" algn="l" defTabSz="779252" rtl="0" eaLnBrk="1" latinLnBrk="0" hangingPunct="1">
        <a:defRPr sz="1500" kern="1200">
          <a:solidFill>
            <a:schemeClr val="tx1"/>
          </a:solidFill>
          <a:latin typeface="+mn-lt"/>
          <a:ea typeface="+mn-ea"/>
          <a:cs typeface="+mn-cs"/>
        </a:defRPr>
      </a:lvl4pPr>
      <a:lvl5pPr marL="1558503" algn="l" defTabSz="779252" rtl="0" eaLnBrk="1" latinLnBrk="0" hangingPunct="1">
        <a:defRPr sz="1500" kern="1200">
          <a:solidFill>
            <a:schemeClr val="tx1"/>
          </a:solidFill>
          <a:latin typeface="+mn-lt"/>
          <a:ea typeface="+mn-ea"/>
          <a:cs typeface="+mn-cs"/>
        </a:defRPr>
      </a:lvl5pPr>
      <a:lvl6pPr marL="1948129" algn="l" defTabSz="779252" rtl="0" eaLnBrk="1" latinLnBrk="0" hangingPunct="1">
        <a:defRPr sz="1500" kern="1200">
          <a:solidFill>
            <a:schemeClr val="tx1"/>
          </a:solidFill>
          <a:latin typeface="+mn-lt"/>
          <a:ea typeface="+mn-ea"/>
          <a:cs typeface="+mn-cs"/>
        </a:defRPr>
      </a:lvl6pPr>
      <a:lvl7pPr marL="2337755" algn="l" defTabSz="779252" rtl="0" eaLnBrk="1" latinLnBrk="0" hangingPunct="1">
        <a:defRPr sz="1500" kern="1200">
          <a:solidFill>
            <a:schemeClr val="tx1"/>
          </a:solidFill>
          <a:latin typeface="+mn-lt"/>
          <a:ea typeface="+mn-ea"/>
          <a:cs typeface="+mn-cs"/>
        </a:defRPr>
      </a:lvl7pPr>
      <a:lvl8pPr marL="2727381" algn="l" defTabSz="779252" rtl="0" eaLnBrk="1" latinLnBrk="0" hangingPunct="1">
        <a:defRPr sz="1500" kern="1200">
          <a:solidFill>
            <a:schemeClr val="tx1"/>
          </a:solidFill>
          <a:latin typeface="+mn-lt"/>
          <a:ea typeface="+mn-ea"/>
          <a:cs typeface="+mn-cs"/>
        </a:defRPr>
      </a:lvl8pPr>
      <a:lvl9pPr marL="3117007" algn="l" defTabSz="779252" rtl="0" eaLnBrk="1" latinLnBrk="0" hangingPunct="1">
        <a:defRPr sz="15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578045" y="1639923"/>
            <a:ext cx="2031269" cy="1849679"/>
          </a:xfrm>
          <a:prstGeom prst="rect">
            <a:avLst/>
          </a:prstGeom>
        </p:spPr>
      </p:pic>
    </p:spTree>
    <p:extLst>
      <p:ext uri="{BB962C8B-B14F-4D97-AF65-F5344CB8AC3E}">
        <p14:creationId xmlns:p14="http://schemas.microsoft.com/office/powerpoint/2010/main" val="1443436294"/>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348105" y="2269550"/>
            <a:ext cx="5561624" cy="830997"/>
          </a:xfrm>
        </p:spPr>
        <p:txBody>
          <a:bodyPr/>
          <a:lstStyle/>
          <a:p>
            <a:pPr algn="ctr"/>
            <a:r>
              <a:rPr lang="en-US" dirty="0"/>
              <a:t>Introduction to</a:t>
            </a:r>
            <a:br>
              <a:rPr lang="en-US" dirty="0"/>
            </a:br>
            <a:r>
              <a:rPr lang="en-US" b="1" u="sng" dirty="0"/>
              <a:t>GCE</a:t>
            </a:r>
          </a:p>
        </p:txBody>
      </p:sp>
      <p:sp>
        <p:nvSpPr>
          <p:cNvPr id="5" name="Subtitle 4"/>
          <p:cNvSpPr>
            <a:spLocks noGrp="1"/>
          </p:cNvSpPr>
          <p:nvPr>
            <p:ph type="subTitle" idx="1"/>
          </p:nvPr>
        </p:nvSpPr>
        <p:spPr/>
        <p:txBody>
          <a:bodyPr/>
          <a:lstStyle/>
          <a:p>
            <a:r>
              <a:rPr lang="en-US" dirty="0"/>
              <a:t>Dec 2017</a:t>
            </a:r>
          </a:p>
        </p:txBody>
      </p:sp>
    </p:spTree>
    <p:extLst>
      <p:ext uri="{BB962C8B-B14F-4D97-AF65-F5344CB8AC3E}">
        <p14:creationId xmlns:p14="http://schemas.microsoft.com/office/powerpoint/2010/main" val="1736500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GCE</a:t>
            </a:r>
          </a:p>
          <a:p>
            <a:r>
              <a:rPr lang="en-US" dirty="0"/>
              <a:t>Modules of GCE</a:t>
            </a:r>
          </a:p>
          <a:p>
            <a:r>
              <a:rPr lang="en-US" dirty="0"/>
              <a:t>Partner Systems</a:t>
            </a:r>
          </a:p>
          <a:p>
            <a:r>
              <a:rPr lang="en-US" dirty="0"/>
              <a:t>EOD and SOD</a:t>
            </a:r>
          </a:p>
          <a:p>
            <a:r>
              <a:rPr lang="en-US" dirty="0"/>
              <a:t>External Feeds</a:t>
            </a:r>
          </a:p>
          <a:p>
            <a:pPr marL="0" indent="0">
              <a:buNone/>
            </a:pPr>
            <a:endParaRPr lang="en-US" dirty="0"/>
          </a:p>
          <a:p>
            <a:endParaRPr lang="en-US" dirty="0"/>
          </a:p>
          <a:p>
            <a:endParaRPr lang="en-US" dirty="0"/>
          </a:p>
          <a:p>
            <a:endParaRPr lang="en-US" dirty="0"/>
          </a:p>
          <a:p>
            <a:endParaRPr lang="en-US" dirty="0"/>
          </a:p>
          <a:p>
            <a:endParaRPr lang="en-US" dirty="0"/>
          </a:p>
        </p:txBody>
      </p:sp>
      <p:sp>
        <p:nvSpPr>
          <p:cNvPr id="3" name="Title 2"/>
          <p:cNvSpPr>
            <a:spLocks noGrp="1"/>
          </p:cNvSpPr>
          <p:nvPr>
            <p:ph type="title"/>
          </p:nvPr>
        </p:nvSpPr>
        <p:spPr/>
        <p:txBody>
          <a:bodyPr/>
          <a:lstStyle/>
          <a:p>
            <a:r>
              <a:rPr lang="en-US" dirty="0"/>
              <a:t>What’s inside?</a:t>
            </a:r>
          </a:p>
        </p:txBody>
      </p:sp>
    </p:spTree>
    <p:extLst>
      <p:ext uri="{BB962C8B-B14F-4D97-AF65-F5344CB8AC3E}">
        <p14:creationId xmlns:p14="http://schemas.microsoft.com/office/powerpoint/2010/main" val="33085026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9878" y="794113"/>
            <a:ext cx="8615227" cy="4040157"/>
          </a:xfrm>
        </p:spPr>
        <p:txBody>
          <a:bodyPr/>
          <a:lstStyle/>
          <a:p>
            <a:pPr marL="0" lvl="0" indent="0" defTabSz="685800" fontAlgn="auto">
              <a:lnSpc>
                <a:spcPct val="90000"/>
              </a:lnSpc>
              <a:spcBef>
                <a:spcPts val="750"/>
              </a:spcBef>
              <a:spcAft>
                <a:spcPts val="0"/>
              </a:spcAft>
              <a:buNone/>
            </a:pPr>
            <a:r>
              <a:rPr lang="en-US" sz="1400" kern="1200" dirty="0">
                <a:latin typeface="Calibri" panose="020F0502020204030204"/>
                <a:cs typeface="+mn-cs"/>
              </a:rPr>
              <a:t>Why is it needed…?</a:t>
            </a: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Sweep cash from where it is to where it is desired </a:t>
            </a:r>
            <a:endParaRPr lang="en-IN" sz="1400" kern="1200" dirty="0">
              <a:latin typeface="Calibri" panose="020F0502020204030204"/>
              <a:cs typeface="+mn-cs"/>
            </a:endParaRP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Minimize deficit positions to reduce funding costs </a:t>
            </a:r>
            <a:endParaRPr lang="en-IN" sz="1400" kern="1200" dirty="0">
              <a:latin typeface="Calibri" panose="020F0502020204030204"/>
              <a:cs typeface="+mn-cs"/>
            </a:endParaRP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Maximize the return on surplus cash position </a:t>
            </a:r>
            <a:endParaRPr lang="en-IN" sz="1400" kern="1200" dirty="0">
              <a:latin typeface="Calibri" panose="020F0502020204030204"/>
              <a:cs typeface="+mn-cs"/>
            </a:endParaRP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Offer readymade or highly-customized solutions </a:t>
            </a:r>
            <a:endParaRPr lang="en-IN" sz="1400" kern="1200" dirty="0">
              <a:latin typeface="Calibri" panose="020F0502020204030204"/>
              <a:cs typeface="+mn-cs"/>
            </a:endParaRP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Operate on a true end of day basis</a:t>
            </a:r>
            <a:endParaRPr lang="en-IN" sz="1400" kern="1200" dirty="0">
              <a:latin typeface="Calibri" panose="020F0502020204030204"/>
              <a:cs typeface="+mn-cs"/>
            </a:endParaRP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Mobilize liquidity within the Citi network</a:t>
            </a:r>
            <a:endParaRPr lang="en-IN" sz="1400" kern="1200" dirty="0">
              <a:latin typeface="Calibri" panose="020F0502020204030204"/>
              <a:cs typeface="+mn-cs"/>
            </a:endParaRP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Provide interest reallocation strategy between participating entities</a:t>
            </a:r>
          </a:p>
          <a:p>
            <a:pPr marL="0" lvl="0" indent="0" defTabSz="685800" fontAlgn="auto">
              <a:lnSpc>
                <a:spcPct val="90000"/>
              </a:lnSpc>
              <a:spcBef>
                <a:spcPts val="750"/>
              </a:spcBef>
              <a:spcAft>
                <a:spcPts val="0"/>
              </a:spcAft>
              <a:buNone/>
            </a:pPr>
            <a:r>
              <a:rPr lang="en-US" sz="1400" kern="1200" dirty="0">
                <a:latin typeface="Calibri" panose="020F0502020204030204"/>
                <a:cs typeface="+mn-cs"/>
              </a:rPr>
              <a:t>How it helps Citi…</a:t>
            </a: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Pools the customer’s fund and utilizes for internal and treasury needs</a:t>
            </a:r>
          </a:p>
          <a:p>
            <a:pPr marL="257175" lvl="0" indent="-257175" defTabSz="685800" fontAlgn="auto">
              <a:lnSpc>
                <a:spcPct val="90000"/>
              </a:lnSpc>
              <a:spcBef>
                <a:spcPts val="750"/>
              </a:spcBef>
              <a:spcAft>
                <a:spcPts val="0"/>
              </a:spcAft>
              <a:buFont typeface="+mj-lt"/>
              <a:buAutoNum type="arabicPeriod"/>
            </a:pPr>
            <a:r>
              <a:rPr lang="en-US" sz="1400" kern="1200" dirty="0">
                <a:latin typeface="Calibri" panose="020F0502020204030204"/>
                <a:cs typeface="+mn-cs"/>
              </a:rPr>
              <a:t>Billing from customer for utilizing liquidity solution of GCE</a:t>
            </a:r>
            <a:endParaRPr lang="en-US" sz="1400" dirty="0"/>
          </a:p>
        </p:txBody>
      </p:sp>
      <p:sp>
        <p:nvSpPr>
          <p:cNvPr id="3" name="Title 2"/>
          <p:cNvSpPr>
            <a:spLocks noGrp="1"/>
          </p:cNvSpPr>
          <p:nvPr>
            <p:ph type="title"/>
          </p:nvPr>
        </p:nvSpPr>
        <p:spPr/>
        <p:txBody>
          <a:bodyPr/>
          <a:lstStyle/>
          <a:p>
            <a:r>
              <a:rPr lang="en-US" dirty="0"/>
              <a:t>GCE:</a:t>
            </a:r>
          </a:p>
        </p:txBody>
      </p:sp>
    </p:spTree>
    <p:extLst>
      <p:ext uri="{BB962C8B-B14F-4D97-AF65-F5344CB8AC3E}">
        <p14:creationId xmlns:p14="http://schemas.microsoft.com/office/powerpoint/2010/main" val="1431842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8461" y="625148"/>
            <a:ext cx="8615227" cy="4040157"/>
          </a:xfrm>
        </p:spPr>
        <p:txBody>
          <a:bodyPr/>
          <a:lstStyle/>
          <a:p>
            <a:pPr algn="just">
              <a:spcBef>
                <a:spcPts val="0"/>
              </a:spcBef>
            </a:pPr>
            <a:r>
              <a:rPr lang="en-US" sz="1400" b="1" u="sng" dirty="0"/>
              <a:t>Product</a:t>
            </a:r>
            <a:r>
              <a:rPr lang="en-US" b="1" u="sng" dirty="0"/>
              <a:t>:</a:t>
            </a:r>
            <a:r>
              <a:rPr lang="en-US" dirty="0"/>
              <a:t> </a:t>
            </a:r>
            <a:r>
              <a:rPr lang="en-US" sz="1400" dirty="0"/>
              <a:t>Services offered by CITI to its customers through GCE with pre-defined or customized solutions.</a:t>
            </a:r>
          </a:p>
          <a:p>
            <a:pPr marL="0" indent="0" algn="just">
              <a:spcBef>
                <a:spcPts val="0"/>
              </a:spcBef>
              <a:buNone/>
            </a:pPr>
            <a:endParaRPr lang="en-US" sz="1400" dirty="0"/>
          </a:p>
          <a:p>
            <a:pPr algn="just">
              <a:spcBef>
                <a:spcPts val="0"/>
              </a:spcBef>
            </a:pPr>
            <a:r>
              <a:rPr lang="en-US" sz="1400" b="1" u="sng" dirty="0"/>
              <a:t>Pair: </a:t>
            </a:r>
            <a:r>
              <a:rPr lang="en-US" sz="1400" dirty="0"/>
              <a:t>The grouping of two accounts is called pair.</a:t>
            </a:r>
          </a:p>
          <a:p>
            <a:pPr marL="0" indent="0" algn="just">
              <a:spcBef>
                <a:spcPts val="0"/>
              </a:spcBef>
              <a:buNone/>
            </a:pPr>
            <a:endParaRPr lang="en-US" sz="1400" dirty="0"/>
          </a:p>
          <a:p>
            <a:pPr>
              <a:spcBef>
                <a:spcPts val="0"/>
              </a:spcBef>
            </a:pPr>
            <a:r>
              <a:rPr lang="en-US" sz="1400" b="1" u="sng" dirty="0"/>
              <a:t>Structure:</a:t>
            </a:r>
            <a:r>
              <a:rPr lang="en-US" sz="1400" dirty="0"/>
              <a:t> The hierarchy of accounts constitutes a structure. A pair will have top account called Final Concentration Account (FCA) and sub accounts (Header/ Source). Parent accounts are called header accounts and child accounts are called source accounts.</a:t>
            </a:r>
            <a:br>
              <a:rPr lang="en-US" sz="1200" dirty="0">
                <a:solidFill>
                  <a:srgbClr val="00008C"/>
                </a:solidFill>
              </a:rPr>
            </a:br>
            <a:endParaRPr lang="en-US" sz="1200" dirty="0">
              <a:solidFill>
                <a:srgbClr val="00008C"/>
              </a:solidFill>
            </a:endParaRPr>
          </a:p>
          <a:p>
            <a:pPr>
              <a:spcBef>
                <a:spcPts val="0"/>
              </a:spcBef>
            </a:pPr>
            <a:endParaRPr lang="en-IN" sz="1200" dirty="0">
              <a:solidFill>
                <a:srgbClr val="00008C"/>
              </a:solidFill>
            </a:endParaRPr>
          </a:p>
          <a:p>
            <a:pPr marL="0" indent="0">
              <a:spcBef>
                <a:spcPts val="0"/>
              </a:spcBef>
              <a:buNone/>
            </a:pPr>
            <a:endParaRPr lang="en-US" dirty="0"/>
          </a:p>
          <a:p>
            <a:pPr marL="0" indent="0">
              <a:spcBef>
                <a:spcPts val="0"/>
              </a:spcBef>
              <a:buNone/>
            </a:pPr>
            <a:endParaRPr lang="en-US" dirty="0"/>
          </a:p>
          <a:p>
            <a:pPr marL="0" indent="0">
              <a:spcBef>
                <a:spcPts val="0"/>
              </a:spcBef>
              <a:buNone/>
            </a:pPr>
            <a:endParaRPr lang="en-US" dirty="0"/>
          </a:p>
          <a:p>
            <a:pPr marL="0" indent="0">
              <a:spcBef>
                <a:spcPts val="0"/>
              </a:spcBef>
              <a:buNone/>
            </a:pPr>
            <a:endParaRPr lang="en-US" dirty="0"/>
          </a:p>
          <a:p>
            <a:pPr algn="just">
              <a:spcBef>
                <a:spcPts val="0"/>
              </a:spcBef>
            </a:pPr>
            <a:r>
              <a:rPr lang="en-US" sz="1400" b="1" u="sng" dirty="0"/>
              <a:t>Strategies:</a:t>
            </a:r>
            <a:r>
              <a:rPr lang="en-US" sz="1400" dirty="0"/>
              <a:t> Defining movement of money from one account to another to achieve target balance (TBA)or zero balance (ZBA) at EOD. </a:t>
            </a:r>
          </a:p>
          <a:p>
            <a:pPr marL="0" indent="0" algn="just">
              <a:spcBef>
                <a:spcPts val="0"/>
              </a:spcBef>
              <a:buNone/>
            </a:pPr>
            <a:endParaRPr lang="en-US" sz="1400" dirty="0"/>
          </a:p>
          <a:p>
            <a:pPr algn="just">
              <a:spcBef>
                <a:spcPts val="0"/>
              </a:spcBef>
            </a:pPr>
            <a:r>
              <a:rPr lang="en-US" sz="1400" b="1" u="sng" dirty="0"/>
              <a:t>Constraints:</a:t>
            </a:r>
            <a:r>
              <a:rPr lang="en-US" sz="1400" dirty="0"/>
              <a:t> Conditions that control or restrict the movement of funds between header and source accounts or across the entire structure. Could be determined by client/ regulatory needs. </a:t>
            </a:r>
          </a:p>
        </p:txBody>
      </p:sp>
      <p:sp>
        <p:nvSpPr>
          <p:cNvPr id="3" name="Title 2"/>
          <p:cNvSpPr>
            <a:spLocks noGrp="1"/>
          </p:cNvSpPr>
          <p:nvPr>
            <p:ph type="title"/>
          </p:nvPr>
        </p:nvSpPr>
        <p:spPr/>
        <p:txBody>
          <a:bodyPr/>
          <a:lstStyle/>
          <a:p>
            <a:r>
              <a:rPr lang="en-US" dirty="0"/>
              <a:t>GCE - Terminologies</a:t>
            </a:r>
          </a:p>
        </p:txBody>
      </p:sp>
      <p:pic>
        <p:nvPicPr>
          <p:cNvPr id="8" name="Picture 7"/>
          <p:cNvPicPr>
            <a:picLocks noChangeAspect="1"/>
          </p:cNvPicPr>
          <p:nvPr/>
        </p:nvPicPr>
        <p:blipFill>
          <a:blip r:embed="rId2"/>
          <a:stretch>
            <a:fillRect/>
          </a:stretch>
        </p:blipFill>
        <p:spPr>
          <a:xfrm>
            <a:off x="2186677" y="2044869"/>
            <a:ext cx="2211283" cy="1347210"/>
          </a:xfrm>
          <a:prstGeom prst="rect">
            <a:avLst/>
          </a:prstGeom>
        </p:spPr>
      </p:pic>
    </p:spTree>
    <p:extLst>
      <p:ext uri="{BB962C8B-B14F-4D97-AF65-F5344CB8AC3E}">
        <p14:creationId xmlns:p14="http://schemas.microsoft.com/office/powerpoint/2010/main" val="410643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8461" y="625148"/>
            <a:ext cx="8615227" cy="4040157"/>
          </a:xfrm>
        </p:spPr>
        <p:txBody>
          <a:bodyPr/>
          <a:lstStyle/>
          <a:p>
            <a:pPr marL="0" indent="0" algn="just">
              <a:spcBef>
                <a:spcPts val="0"/>
              </a:spcBef>
              <a:buNone/>
            </a:pPr>
            <a:r>
              <a:rPr lang="en-US" sz="1400" dirty="0"/>
              <a:t>Some of existing constraints are as below:</a:t>
            </a:r>
          </a:p>
          <a:p>
            <a:pPr lvl="2" algn="just">
              <a:spcBef>
                <a:spcPts val="0"/>
              </a:spcBef>
              <a:buFont typeface="Arial" panose="020B0604020202020204" pitchFamily="34" charset="0"/>
              <a:buChar char="•"/>
            </a:pPr>
            <a:r>
              <a:rPr lang="en-US" sz="1400" dirty="0"/>
              <a:t>Minimum Amount</a:t>
            </a:r>
          </a:p>
          <a:p>
            <a:pPr lvl="2" algn="just">
              <a:spcBef>
                <a:spcPts val="0"/>
              </a:spcBef>
              <a:buFont typeface="Arial" panose="020B0604020202020204" pitchFamily="34" charset="0"/>
              <a:buChar char="•"/>
            </a:pPr>
            <a:r>
              <a:rPr lang="en-US" sz="1400" dirty="0"/>
              <a:t>Maximum Amount</a:t>
            </a:r>
          </a:p>
          <a:p>
            <a:pPr lvl="2" algn="just">
              <a:spcBef>
                <a:spcPts val="0"/>
              </a:spcBef>
              <a:buFont typeface="Arial" panose="020B0604020202020204" pitchFamily="34" charset="0"/>
              <a:buChar char="•"/>
            </a:pPr>
            <a:r>
              <a:rPr lang="en-US" sz="1400" dirty="0"/>
              <a:t>Lot Amount</a:t>
            </a:r>
          </a:p>
          <a:p>
            <a:pPr lvl="2" algn="just">
              <a:spcBef>
                <a:spcPts val="0"/>
              </a:spcBef>
              <a:buFont typeface="Arial" panose="020B0604020202020204" pitchFamily="34" charset="0"/>
              <a:buChar char="•"/>
            </a:pPr>
            <a:r>
              <a:rPr lang="en-US" sz="1400" dirty="0"/>
              <a:t>Sweep Counter</a:t>
            </a:r>
          </a:p>
          <a:p>
            <a:pPr lvl="2" algn="just">
              <a:spcBef>
                <a:spcPts val="0"/>
              </a:spcBef>
              <a:buFont typeface="Arial" panose="020B0604020202020204" pitchFamily="34" charset="0"/>
              <a:buChar char="•"/>
            </a:pPr>
            <a:r>
              <a:rPr lang="en-US" sz="1400" dirty="0"/>
              <a:t>Frequency</a:t>
            </a:r>
          </a:p>
          <a:p>
            <a:r>
              <a:rPr lang="en-US" sz="1400" b="1" u="sng" dirty="0"/>
              <a:t>Dates:</a:t>
            </a:r>
            <a:r>
              <a:rPr lang="en-US" sz="1400" dirty="0"/>
              <a:t>  (applicable at arrangement-pair level)</a:t>
            </a:r>
          </a:p>
          <a:p>
            <a:pPr lvl="2">
              <a:buFont typeface="Arial" panose="020B0604020202020204" pitchFamily="34" charset="0"/>
              <a:buChar char="•"/>
            </a:pPr>
            <a:r>
              <a:rPr lang="en-US" sz="1400" dirty="0"/>
              <a:t>Arrangement - Start Date/End Date</a:t>
            </a:r>
          </a:p>
          <a:p>
            <a:pPr lvl="2">
              <a:buFont typeface="Arial" panose="020B0604020202020204" pitchFamily="34" charset="0"/>
              <a:buChar char="•"/>
            </a:pPr>
            <a:r>
              <a:rPr lang="en-US" sz="1400" dirty="0"/>
              <a:t>Effective - Start Date/End Date</a:t>
            </a:r>
          </a:p>
          <a:p>
            <a:pPr lvl="2">
              <a:buFont typeface="Arial" panose="020B0604020202020204" pitchFamily="34" charset="0"/>
              <a:buChar char="•"/>
            </a:pPr>
            <a:r>
              <a:rPr lang="en-US" sz="1400" dirty="0"/>
              <a:t>Suspended - Start Date/End Date</a:t>
            </a:r>
          </a:p>
          <a:p>
            <a:pPr algn="just"/>
            <a:r>
              <a:rPr lang="en-US" sz="1400" b="1" u="sng" dirty="0"/>
              <a:t>Arrangement:</a:t>
            </a:r>
            <a:r>
              <a:rPr lang="en-US" sz="1400" dirty="0"/>
              <a:t>  Association of product, structure, dates, billing, interest is called an arrangement.</a:t>
            </a:r>
          </a:p>
          <a:p>
            <a:pPr algn="just"/>
            <a:r>
              <a:rPr lang="en-US" sz="1400" b="1" u="sng" dirty="0"/>
              <a:t>Maker-Checker:</a:t>
            </a:r>
            <a:r>
              <a:rPr lang="en-US" sz="1400" dirty="0"/>
              <a:t> Ensures control on addition/amendments in process. So, if an arrangement pair is changed by one user (maker), it must be reviewed and approved by other user (Checker). In some cases there could be an additional check of Super checker.</a:t>
            </a:r>
          </a:p>
          <a:p>
            <a:pPr algn="just"/>
            <a:endParaRPr lang="en-US" sz="1400" dirty="0"/>
          </a:p>
        </p:txBody>
      </p:sp>
      <p:sp>
        <p:nvSpPr>
          <p:cNvPr id="3" name="Title 2"/>
          <p:cNvSpPr>
            <a:spLocks noGrp="1"/>
          </p:cNvSpPr>
          <p:nvPr>
            <p:ph type="title"/>
          </p:nvPr>
        </p:nvSpPr>
        <p:spPr/>
        <p:txBody>
          <a:bodyPr/>
          <a:lstStyle/>
          <a:p>
            <a:r>
              <a:rPr lang="en-US" dirty="0"/>
              <a:t>GCE - Terminologies</a:t>
            </a:r>
          </a:p>
        </p:txBody>
      </p:sp>
    </p:spTree>
    <p:extLst>
      <p:ext uri="{BB962C8B-B14F-4D97-AF65-F5344CB8AC3E}">
        <p14:creationId xmlns:p14="http://schemas.microsoft.com/office/powerpoint/2010/main" val="2894266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9878" y="764296"/>
            <a:ext cx="8615227" cy="3725083"/>
          </a:xfrm>
        </p:spPr>
        <p:txBody>
          <a:bodyPr/>
          <a:lstStyle/>
          <a:p>
            <a:r>
              <a:rPr lang="en-US" b="1" u="sng" dirty="0"/>
              <a:t>Admin:</a:t>
            </a:r>
            <a:r>
              <a:rPr lang="en-US" b="1" dirty="0"/>
              <a:t> </a:t>
            </a:r>
            <a:r>
              <a:rPr lang="en-US" sz="1400" dirty="0"/>
              <a:t>The Admin module of GCE is used for administrative activities such as user/role management, branch set up in GCE, currency setup etc.</a:t>
            </a:r>
            <a:endParaRPr lang="en-US" sz="1400" b="1" u="sng" dirty="0"/>
          </a:p>
          <a:p>
            <a:r>
              <a:rPr lang="en-US" b="1" u="sng" dirty="0"/>
              <a:t>APS:</a:t>
            </a:r>
            <a:r>
              <a:rPr lang="en-US" dirty="0"/>
              <a:t> </a:t>
            </a:r>
            <a:r>
              <a:rPr lang="en-US" sz="1400" dirty="0"/>
              <a:t>Account posting services module is used for bulk posting of sweeps manually and for enquiring postings sent by GCE.</a:t>
            </a:r>
            <a:endParaRPr lang="en-US" b="1" u="sng" dirty="0"/>
          </a:p>
          <a:p>
            <a:r>
              <a:rPr lang="en-US" b="1" u="sng" dirty="0"/>
              <a:t>GCE:</a:t>
            </a:r>
            <a:r>
              <a:rPr lang="en-US" dirty="0"/>
              <a:t> </a:t>
            </a:r>
            <a:r>
              <a:rPr lang="en-US" sz="1400" dirty="0"/>
              <a:t>This module provides functionalities such as sweep enquiry, re-do EOD, loan position checking etc.</a:t>
            </a:r>
            <a:endParaRPr lang="en-US" b="1" u="sng" dirty="0"/>
          </a:p>
          <a:p>
            <a:r>
              <a:rPr lang="en-US" b="1" u="sng" dirty="0"/>
              <a:t>GLSM:</a:t>
            </a:r>
            <a:r>
              <a:rPr lang="en-US" dirty="0"/>
              <a:t> </a:t>
            </a:r>
            <a:r>
              <a:rPr lang="en-US" sz="1400" dirty="0"/>
              <a:t>In GLSM, products, arrangements, structure, constraints etc. are defined. This is an important part since the sweeps in EOD/SOD will be posted based on the configurations defined here.</a:t>
            </a:r>
            <a:endParaRPr lang="en-US" b="1" u="sng" dirty="0"/>
          </a:p>
          <a:p>
            <a:r>
              <a:rPr lang="en-US" b="1" u="sng" dirty="0"/>
              <a:t>GFP:</a:t>
            </a:r>
            <a:r>
              <a:rPr lang="en-US" dirty="0"/>
              <a:t> </a:t>
            </a:r>
            <a:r>
              <a:rPr lang="en-US" sz="1400" dirty="0"/>
              <a:t>GFP is generic file processer used for processing of files.</a:t>
            </a:r>
            <a:endParaRPr lang="en-US" sz="1400" b="1" u="sng" dirty="0"/>
          </a:p>
          <a:p>
            <a:r>
              <a:rPr lang="en-US" b="1" u="sng" dirty="0"/>
              <a:t>Report:</a:t>
            </a:r>
            <a:r>
              <a:rPr lang="en-US" dirty="0"/>
              <a:t> </a:t>
            </a:r>
            <a:r>
              <a:rPr lang="en-US" sz="1400" dirty="0"/>
              <a:t>Report module has scheduled and manual reports created for regulatory/operations purpose.</a:t>
            </a:r>
            <a:endParaRPr lang="en-US" b="1" u="sng" dirty="0"/>
          </a:p>
          <a:p>
            <a:pPr marL="0" indent="0">
              <a:buNone/>
            </a:pPr>
            <a:endParaRPr lang="en-US" dirty="0"/>
          </a:p>
        </p:txBody>
      </p:sp>
      <p:sp>
        <p:nvSpPr>
          <p:cNvPr id="3" name="Title 2"/>
          <p:cNvSpPr>
            <a:spLocks noGrp="1"/>
          </p:cNvSpPr>
          <p:nvPr>
            <p:ph type="title"/>
          </p:nvPr>
        </p:nvSpPr>
        <p:spPr/>
        <p:txBody>
          <a:bodyPr/>
          <a:lstStyle/>
          <a:p>
            <a:r>
              <a:rPr lang="en-US" dirty="0"/>
              <a:t>Modules of GCE</a:t>
            </a:r>
          </a:p>
        </p:txBody>
      </p:sp>
    </p:spTree>
    <p:extLst>
      <p:ext uri="{BB962C8B-B14F-4D97-AF65-F5344CB8AC3E}">
        <p14:creationId xmlns:p14="http://schemas.microsoft.com/office/powerpoint/2010/main" val="990304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9878" y="625148"/>
            <a:ext cx="8615227" cy="3725083"/>
          </a:xfrm>
        </p:spPr>
        <p:txBody>
          <a:bodyPr/>
          <a:lstStyle/>
          <a:p>
            <a:r>
              <a:rPr lang="en-US" b="1" u="sng" dirty="0"/>
              <a:t>Flex/DDA:</a:t>
            </a:r>
            <a:r>
              <a:rPr lang="en-US" dirty="0"/>
              <a:t> </a:t>
            </a:r>
            <a:r>
              <a:rPr lang="en-US" sz="1400" dirty="0"/>
              <a:t>Flex cube is the system that would provide details of transactions and balances for each account of a branch to GCE. Also the sweeps calculated by GCE are send to flex for further processing.</a:t>
            </a:r>
            <a:endParaRPr lang="en-US" sz="1400" b="1" u="sng" dirty="0"/>
          </a:p>
          <a:p>
            <a:r>
              <a:rPr lang="en-US" b="1" u="sng" dirty="0"/>
              <a:t>GIW:</a:t>
            </a:r>
            <a:r>
              <a:rPr lang="en-US" dirty="0"/>
              <a:t> </a:t>
            </a:r>
            <a:r>
              <a:rPr lang="en-US" sz="1400" dirty="0"/>
              <a:t>Global information warehouse is a central repository for account level information. It is like a consolidated repository, which is connected to all other </a:t>
            </a:r>
            <a:r>
              <a:rPr lang="en-US" sz="1400" dirty="0" err="1"/>
              <a:t>citi</a:t>
            </a:r>
            <a:r>
              <a:rPr lang="en-US" sz="1400" dirty="0"/>
              <a:t> systems and would have comprehensive information for each account and transaction. For GCE, if balance information for an account is not received from Flex, then it can be fetched from GIW. Also, information related to active structures in GCE, sweep generation and limit utilization is sent to GIW for its record and for any need of this data by other systems.</a:t>
            </a:r>
            <a:endParaRPr lang="en-US" sz="1400" b="1" u="sng" dirty="0"/>
          </a:p>
          <a:p>
            <a:r>
              <a:rPr lang="en-US" b="1" u="sng" dirty="0"/>
              <a:t>GBNP:</a:t>
            </a:r>
            <a:r>
              <a:rPr lang="en-US" dirty="0"/>
              <a:t> </a:t>
            </a:r>
            <a:r>
              <a:rPr lang="en-US" sz="1400" dirty="0"/>
              <a:t>GBNP is global system for calculation of interests. Since, GCE sweeps also involve inter company lending, the GBNP is used to perform interest calculation based on internal interest rates for such lending. Thus, the information of inter company lending is shared with GBNP and it does further processing to calculate and post interests.</a:t>
            </a:r>
            <a:endParaRPr lang="en-US" sz="1400" b="1" u="sng" dirty="0"/>
          </a:p>
          <a:p>
            <a:r>
              <a:rPr lang="en-US" b="1" u="sng" dirty="0"/>
              <a:t>GBS:</a:t>
            </a:r>
            <a:r>
              <a:rPr lang="en-US" dirty="0"/>
              <a:t> </a:t>
            </a:r>
            <a:r>
              <a:rPr lang="en-US" sz="1400" dirty="0"/>
              <a:t>GBS is global billing system. Citi charges its GCE customers based on sweep performed for each customer. Thus, GBS calculates charges and bills them to customer, based on sweep information sent by GCE.</a:t>
            </a:r>
          </a:p>
          <a:p>
            <a:r>
              <a:rPr lang="en-US" sz="1400" b="1" u="sng" dirty="0"/>
              <a:t>Account Posting Services:</a:t>
            </a:r>
            <a:r>
              <a:rPr lang="en-US" sz="1400" dirty="0"/>
              <a:t> APS acts as an interface to post financial transactions to core ledger systems. It retrieves transactions from GCE and GBNP at EOD. It also checks whether sweep currency is valid and creates transaction legs (debit/credit) accordingly.</a:t>
            </a:r>
            <a:endParaRPr lang="en-US" sz="1400" b="1" u="sng" dirty="0"/>
          </a:p>
        </p:txBody>
      </p:sp>
      <p:sp>
        <p:nvSpPr>
          <p:cNvPr id="3" name="Title 2"/>
          <p:cNvSpPr>
            <a:spLocks noGrp="1"/>
          </p:cNvSpPr>
          <p:nvPr>
            <p:ph type="title"/>
          </p:nvPr>
        </p:nvSpPr>
        <p:spPr/>
        <p:txBody>
          <a:bodyPr/>
          <a:lstStyle/>
          <a:p>
            <a:r>
              <a:rPr lang="en-US" dirty="0"/>
              <a:t>Partner Systems</a:t>
            </a:r>
          </a:p>
        </p:txBody>
      </p:sp>
    </p:spTree>
    <p:extLst>
      <p:ext uri="{BB962C8B-B14F-4D97-AF65-F5344CB8AC3E}">
        <p14:creationId xmlns:p14="http://schemas.microsoft.com/office/powerpoint/2010/main" val="23050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9452" y="625148"/>
            <a:ext cx="8895522" cy="4384174"/>
          </a:xfrm>
        </p:spPr>
        <p:txBody>
          <a:bodyPr/>
          <a:lstStyle/>
          <a:p>
            <a:pPr marL="0" indent="0">
              <a:buNone/>
            </a:pPr>
            <a:r>
              <a:rPr lang="en-US" sz="1400" dirty="0"/>
              <a:t>Each day, as soon as a particular branch of CITI is closed for operations, the EOD process is performed in GCE to post the sweeps for that branch. The process is triggered in GCE at branch level, as soon as it receives s signal of branch close from Flex. The process is  performed in GCE in below 5 steps:</a:t>
            </a:r>
          </a:p>
          <a:p>
            <a:r>
              <a:rPr lang="en-US" sz="1400" b="1" u="sng" dirty="0"/>
              <a:t>PL (Preloading):</a:t>
            </a:r>
            <a:r>
              <a:rPr lang="en-US" sz="1400" dirty="0"/>
              <a:t> In pre-loading process, the active accounts for a particular branch are identified and loaded that shall be participating in EOD for that branch. A participating account shall be active, belonging to the branch (for EOD) and eligible to run for that day (as per its schedule).</a:t>
            </a:r>
          </a:p>
          <a:p>
            <a:r>
              <a:rPr lang="en-US" sz="1400" b="1" u="sng" dirty="0"/>
              <a:t>TX (Transaction Loading): </a:t>
            </a:r>
            <a:r>
              <a:rPr lang="en-US" sz="1400" dirty="0"/>
              <a:t>This process is performed with i7 file from flex. The file contains value date transactions for all account of a branch and of those the data is loaded to GCE for accounts identified during preloading.</a:t>
            </a:r>
          </a:p>
          <a:p>
            <a:r>
              <a:rPr lang="en-US" sz="1400" b="1" u="sng" dirty="0"/>
              <a:t>BL  (Balances Loading): </a:t>
            </a:r>
            <a:r>
              <a:rPr lang="en-US" sz="1400" dirty="0"/>
              <a:t>Similar to TX, the BL process loads value dated balances to GCE for participating accounts of a branch as per i11 file received from flex. If balance for a participating account is not available in i11, those will be fetched from GIW.</a:t>
            </a:r>
          </a:p>
          <a:p>
            <a:r>
              <a:rPr lang="en-US" sz="1400" b="1" u="sng" dirty="0"/>
              <a:t>XD (Sweep Creation):</a:t>
            </a:r>
            <a:r>
              <a:rPr lang="en-US" sz="1400" dirty="0"/>
              <a:t> Once Balances and transactions are loaded for participating accounts, the sweeps are generated as per concentration strategy and constraints for each account pair. The sweeps could be for same/cross currency and for domestic/international movement. </a:t>
            </a:r>
          </a:p>
          <a:p>
            <a:r>
              <a:rPr lang="en-US" sz="1400" b="1" u="sng" dirty="0"/>
              <a:t>PP (Post Processing):</a:t>
            </a:r>
            <a:r>
              <a:rPr lang="en-US" sz="1400" dirty="0"/>
              <a:t> This process will create an output file i11 of sweeps, which will be send to flex for further processing.</a:t>
            </a:r>
          </a:p>
        </p:txBody>
      </p:sp>
      <p:sp>
        <p:nvSpPr>
          <p:cNvPr id="3" name="Title 2"/>
          <p:cNvSpPr>
            <a:spLocks noGrp="1"/>
          </p:cNvSpPr>
          <p:nvPr>
            <p:ph type="title"/>
          </p:nvPr>
        </p:nvSpPr>
        <p:spPr/>
        <p:txBody>
          <a:bodyPr/>
          <a:lstStyle/>
          <a:p>
            <a:r>
              <a:rPr lang="en-US" dirty="0"/>
              <a:t>EOD </a:t>
            </a:r>
            <a:r>
              <a:rPr lang="en-US" sz="2000" dirty="0"/>
              <a:t>(End of Day processing)</a:t>
            </a:r>
          </a:p>
        </p:txBody>
      </p:sp>
    </p:spTree>
    <p:extLst>
      <p:ext uri="{BB962C8B-B14F-4D97-AF65-F5344CB8AC3E}">
        <p14:creationId xmlns:p14="http://schemas.microsoft.com/office/powerpoint/2010/main" val="1781865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8189" y="651991"/>
            <a:ext cx="8615227" cy="3725083"/>
          </a:xfrm>
        </p:spPr>
        <p:txBody>
          <a:bodyPr/>
          <a:lstStyle/>
          <a:p>
            <a:pPr marL="0" indent="0">
              <a:buNone/>
            </a:pPr>
            <a:r>
              <a:rPr lang="en-US" sz="1400" dirty="0"/>
              <a:t>Each morning, as soon as a particular branch of CITI is open for operations, the SOD process is performed in GCE to reconcile sweeps performed for prior business day and update the limits, loan positions, principal amount etc. for each account of that particular branch. The process is triggered in GCE for a branch, as soon as it receives signal of branch opening from Flex. The process is  performed in GCE in below 4 steps:</a:t>
            </a:r>
          </a:p>
          <a:p>
            <a:r>
              <a:rPr lang="en-US" b="1" u="sng" dirty="0"/>
              <a:t>RE (Recon) :</a:t>
            </a:r>
            <a:r>
              <a:rPr lang="en-US" sz="1400" dirty="0"/>
              <a:t> A reconciliation is performed between sweeps posted for this branch for previous business day with APS. All the pending transactions are marked as failed and all the previous day’s transactions that were not posted due to closure of branch are posted and reconciled with APS.</a:t>
            </a:r>
          </a:p>
          <a:p>
            <a:r>
              <a:rPr lang="en-US" b="1" u="sng" dirty="0"/>
              <a:t>LP (Loan Position  Posting):</a:t>
            </a:r>
            <a:r>
              <a:rPr lang="en-US" dirty="0"/>
              <a:t> </a:t>
            </a:r>
            <a:r>
              <a:rPr lang="en-US" sz="1400" dirty="0"/>
              <a:t>In this process, GCE computes and updates the loan position for all successful sweeps of a branch. The loan position is maintained by value date.  Based on the cumulative loan position of each value date, interest is calculated and posted on month end.</a:t>
            </a:r>
            <a:r>
              <a:rPr lang="en-US" dirty="0"/>
              <a:t>	</a:t>
            </a:r>
          </a:p>
          <a:p>
            <a:r>
              <a:rPr lang="en-US" b="1" u="sng" dirty="0"/>
              <a:t>PR (Principle Reset):</a:t>
            </a:r>
            <a:r>
              <a:rPr lang="en-US" dirty="0"/>
              <a:t>  </a:t>
            </a:r>
            <a:r>
              <a:rPr lang="en-US" sz="1400" dirty="0"/>
              <a:t>In this process, the principle amount as per the constraints is reset as and when applicable.</a:t>
            </a:r>
          </a:p>
          <a:p>
            <a:r>
              <a:rPr lang="en-US" b="1" u="sng" dirty="0"/>
              <a:t>RV (Reverse Sweep):</a:t>
            </a:r>
            <a:r>
              <a:rPr lang="en-US" sz="1400" dirty="0"/>
              <a:t> In this process, the reverse sweep leg of a sweep is posted and is sent to flex for intraday posting. This leg acts as recovery sweep, which is handled by operations team.</a:t>
            </a:r>
            <a:r>
              <a:rPr lang="en-US" dirty="0"/>
              <a:t>	</a:t>
            </a:r>
          </a:p>
        </p:txBody>
      </p:sp>
      <p:sp>
        <p:nvSpPr>
          <p:cNvPr id="3" name="Title 2"/>
          <p:cNvSpPr>
            <a:spLocks noGrp="1"/>
          </p:cNvSpPr>
          <p:nvPr>
            <p:ph type="title"/>
          </p:nvPr>
        </p:nvSpPr>
        <p:spPr/>
        <p:txBody>
          <a:bodyPr/>
          <a:lstStyle/>
          <a:p>
            <a:r>
              <a:rPr lang="en-US" dirty="0"/>
              <a:t>SOD </a:t>
            </a:r>
            <a:r>
              <a:rPr lang="en-US" sz="2000" dirty="0"/>
              <a:t>(Start of day processing)</a:t>
            </a:r>
          </a:p>
        </p:txBody>
      </p:sp>
    </p:spTree>
    <p:extLst>
      <p:ext uri="{BB962C8B-B14F-4D97-AF65-F5344CB8AC3E}">
        <p14:creationId xmlns:p14="http://schemas.microsoft.com/office/powerpoint/2010/main" val="39144761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58189" y="741442"/>
            <a:ext cx="8615227" cy="3725083"/>
          </a:xfrm>
        </p:spPr>
        <p:txBody>
          <a:bodyPr/>
          <a:lstStyle/>
          <a:p>
            <a:r>
              <a:rPr lang="en-US" b="1" u="sng" dirty="0"/>
              <a:t>SB Feed</a:t>
            </a:r>
            <a:r>
              <a:rPr lang="en-US" dirty="0"/>
              <a:t> – </a:t>
            </a:r>
            <a:r>
              <a:rPr lang="en-US" sz="1400" dirty="0"/>
              <a:t>The </a:t>
            </a:r>
            <a:r>
              <a:rPr lang="en-US" sz="1400" i="1" dirty="0"/>
              <a:t>Structure Broker</a:t>
            </a:r>
            <a:r>
              <a:rPr lang="en-US" sz="1400" dirty="0"/>
              <a:t> feed is sent to GIW and contains details about active structures in GCE. The file is sent four times in a day and is send using NDM file transfer mechanism. The purpose of feed is to keep GIW updated about the information of structures in GCE.</a:t>
            </a:r>
          </a:p>
          <a:p>
            <a:r>
              <a:rPr lang="en-US" b="1" u="sng" dirty="0"/>
              <a:t>LM Feed</a:t>
            </a:r>
            <a:r>
              <a:rPr lang="en-US" dirty="0"/>
              <a:t> – </a:t>
            </a:r>
            <a:r>
              <a:rPr lang="en-US" sz="1400" dirty="0"/>
              <a:t>The </a:t>
            </a:r>
            <a:r>
              <a:rPr lang="en-US" sz="1400" i="1" dirty="0"/>
              <a:t>Liquidity Mart</a:t>
            </a:r>
            <a:r>
              <a:rPr lang="en-US" sz="1400" dirty="0"/>
              <a:t> feed is sent to GIW and contains list of all successful sweeps in GCE. Similar to SB feed the file is transferred using NDM mechanism. The purpose of feed is to keep GIW updated about the sweeps processed in GCE for a given date and branch.</a:t>
            </a:r>
          </a:p>
          <a:p>
            <a:r>
              <a:rPr lang="en-US" b="1" u="sng" dirty="0"/>
              <a:t>LU Feed</a:t>
            </a:r>
            <a:r>
              <a:rPr lang="en-US" dirty="0"/>
              <a:t> – </a:t>
            </a:r>
            <a:r>
              <a:rPr lang="en-US" sz="1400" dirty="0"/>
              <a:t>The </a:t>
            </a:r>
            <a:r>
              <a:rPr lang="en-US" sz="1400" i="1" dirty="0"/>
              <a:t>Limit Utilization feed</a:t>
            </a:r>
            <a:r>
              <a:rPr lang="en-US" sz="1400" dirty="0"/>
              <a:t> contains details of sweep limits utilized for each account/structure. Since, the sweep constraints might cap the amount and frequency of a sweep for an account pair, this information is useful to assess, how much of sweep limit has been utilized. The feed is sent to GIW</a:t>
            </a:r>
          </a:p>
          <a:p>
            <a:r>
              <a:rPr lang="en-US" b="1" u="sng" dirty="0"/>
              <a:t>IRL Feed</a:t>
            </a:r>
            <a:r>
              <a:rPr lang="en-US" dirty="0"/>
              <a:t> – </a:t>
            </a:r>
            <a:r>
              <a:rPr lang="en-US" sz="1400" dirty="0"/>
              <a:t>The </a:t>
            </a:r>
            <a:r>
              <a:rPr lang="en-US" sz="1400" i="1" dirty="0"/>
              <a:t>Interest reallocation</a:t>
            </a:r>
            <a:r>
              <a:rPr lang="en-US" sz="1400" dirty="0"/>
              <a:t> feed is sent to GBNP. GCE sends parameters in this feed, which are used by GBNP to calculate interest for intercompany lending performed as part of achieving target balancing in GCE.</a:t>
            </a:r>
          </a:p>
          <a:p>
            <a:r>
              <a:rPr lang="en-US" b="1" u="sng" dirty="0"/>
              <a:t>BIS &amp; MBBS Feed</a:t>
            </a:r>
            <a:r>
              <a:rPr lang="en-US" dirty="0"/>
              <a:t> – The Billing feeds are sent to GBS (global billing system) for calculation of billing for the services (sweeps) provided by GCE. </a:t>
            </a:r>
          </a:p>
        </p:txBody>
      </p:sp>
      <p:sp>
        <p:nvSpPr>
          <p:cNvPr id="3" name="Title 2"/>
          <p:cNvSpPr>
            <a:spLocks noGrp="1"/>
          </p:cNvSpPr>
          <p:nvPr>
            <p:ph type="title"/>
          </p:nvPr>
        </p:nvSpPr>
        <p:spPr/>
        <p:txBody>
          <a:bodyPr/>
          <a:lstStyle/>
          <a:p>
            <a:r>
              <a:rPr lang="en-US" dirty="0"/>
              <a:t>External Feeds</a:t>
            </a:r>
          </a:p>
        </p:txBody>
      </p:sp>
    </p:spTree>
    <p:extLst>
      <p:ext uri="{BB962C8B-B14F-4D97-AF65-F5344CB8AC3E}">
        <p14:creationId xmlns:p14="http://schemas.microsoft.com/office/powerpoint/2010/main" val="3546473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520663"/>
      </p:ext>
    </p:extLst>
  </p:cSld>
  <p:clrMapOvr>
    <a:masterClrMapping/>
  </p:clrMapOvr>
</p:sld>
</file>

<file path=ppt/theme/theme1.xml><?xml version="1.0" encoding="utf-8"?>
<a:theme xmlns:a="http://schemas.openxmlformats.org/drawingml/2006/main" name="L&amp;T Infotech">
  <a:themeElements>
    <a:clrScheme name="L&amp;T">
      <a:dk1>
        <a:srgbClr val="7C7C7C"/>
      </a:dk1>
      <a:lt1>
        <a:srgbClr val="FEFDFD"/>
      </a:lt1>
      <a:dk2>
        <a:srgbClr val="B2B2B2"/>
      </a:dk2>
      <a:lt2>
        <a:srgbClr val="FEFDFD"/>
      </a:lt2>
      <a:accent1>
        <a:srgbClr val="124079"/>
      </a:accent1>
      <a:accent2>
        <a:srgbClr val="7C7C7C"/>
      </a:accent2>
      <a:accent3>
        <a:srgbClr val="FCC320"/>
      </a:accent3>
      <a:accent4>
        <a:srgbClr val="20BDBE"/>
      </a:accent4>
      <a:accent5>
        <a:srgbClr val="706952"/>
      </a:accent5>
      <a:accent6>
        <a:srgbClr val="1AB26C"/>
      </a:accent6>
      <a:hlink>
        <a:srgbClr val="939598"/>
      </a:hlink>
      <a:folHlink>
        <a:srgbClr val="BBBDC0"/>
      </a:folHlink>
    </a:clrScheme>
    <a:fontScheme name="ICG Fonts">
      <a:majorFont>
        <a:latin typeface="Arial"/>
        <a:ea typeface="STKaiti"/>
        <a:cs typeface=""/>
      </a:majorFont>
      <a:minorFont>
        <a:latin typeface="Arial"/>
        <a:ea typeface="STKait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folHlink"/>
        </a:solidFill>
        <a:ln w="63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sz="1400" b="0" i="0" u="none" strike="noStrike" cap="none" normalizeH="0" baseline="0" dirty="0" smtClean="0">
            <a:ln>
              <a:noFill/>
            </a:ln>
            <a:solidFill>
              <a:schemeClr val="tx1"/>
            </a:solidFill>
            <a:effectLst/>
            <a:latin typeface="Arial" pitchFamily="34" charset="0"/>
            <a:ea typeface="+mj-ea"/>
          </a:defRPr>
        </a:defPPr>
      </a:lstStyle>
    </a:spDef>
    <a:lnDef>
      <a:spPr bwMode="auto">
        <a:xfrm>
          <a:off x="0" y="0"/>
          <a:ext cx="1" cy="1"/>
        </a:xfrm>
        <a:custGeom>
          <a:avLst/>
          <a:gdLst/>
          <a:ahLst/>
          <a:cxnLst/>
          <a:rect l="0" t="0" r="0" b="0"/>
          <a:pathLst/>
        </a:custGeom>
        <a:solidFill>
          <a:schemeClr val="folHlink"/>
        </a:solidFill>
        <a:ln w="6350" cap="flat" cmpd="sng" algn="ctr">
          <a:solidFill>
            <a:schemeClr val="tx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400" b="0" i="0" u="none" strike="noStrike" cap="none" normalizeH="0" baseline="0" smtClean="0">
            <a:ln>
              <a:noFill/>
            </a:ln>
            <a:solidFill>
              <a:schemeClr val="tx1"/>
            </a:solidFill>
            <a:effectLst/>
            <a:latin typeface="Arial" pitchFamily="34" charset="0"/>
            <a:ea typeface="ヒラギノ角ゴ Pro W3" pitchFamily="124" charset="-128"/>
          </a:defRPr>
        </a:defPPr>
      </a:lstStyle>
    </a:lnDef>
    <a:txDef>
      <a:spPr>
        <a:noFill/>
      </a:spPr>
      <a:bodyPr wrap="none" rtlCol="0">
        <a:spAutoFit/>
      </a:bodyPr>
      <a:lstStyle>
        <a:defPPr>
          <a:defRPr baseline="0" dirty="0">
            <a:ea typeface="+mj-ea"/>
          </a:defRPr>
        </a:defPPr>
      </a:lstStyle>
    </a:txDef>
  </a:objectDefaults>
  <a:extraClrSchemeLst>
    <a:extraClrScheme>
      <a:clrScheme name="ICG_Pres (A4) 1">
        <a:dk1>
          <a:srgbClr val="53565A"/>
        </a:dk1>
        <a:lt1>
          <a:srgbClr val="FFFFFF"/>
        </a:lt1>
        <a:dk2>
          <a:srgbClr val="97999B"/>
        </a:dk2>
        <a:lt2>
          <a:srgbClr val="53565A"/>
        </a:lt2>
        <a:accent1>
          <a:srgbClr val="002D72"/>
        </a:accent1>
        <a:accent2>
          <a:srgbClr val="99ABC7"/>
        </a:accent2>
        <a:accent3>
          <a:srgbClr val="FFFFFF"/>
        </a:accent3>
        <a:accent4>
          <a:srgbClr val="46484C"/>
        </a:accent4>
        <a:accent5>
          <a:srgbClr val="AAADBC"/>
        </a:accent5>
        <a:accent6>
          <a:srgbClr val="8A9BB4"/>
        </a:accent6>
        <a:hlink>
          <a:srgbClr val="00BDF2"/>
        </a:hlink>
        <a:folHlink>
          <a:srgbClr val="99E4FA"/>
        </a:folHlink>
      </a:clrScheme>
      <a:clrMap bg1="lt1" tx1="dk1" bg2="lt2" tx2="dk2" accent1="accent1" accent2="accent2" accent3="accent3" accent4="accent4" accent5="accent5" accent6="accent6" hlink="hlink" folHlink="folHlink"/>
    </a:extraClrScheme>
  </a:extraClrSchemeLst>
  <a:custClrLst>
    <a:custClr name="Aqua">
      <a:srgbClr val="00B0B9"/>
    </a:custClr>
    <a:custClr name="Aqua Tint">
      <a:srgbClr val="99DFE3"/>
    </a:custClr>
    <a:custClr name="Goldenrod">
      <a:srgbClr val="C99700"/>
    </a:custClr>
    <a:custClr name="Goldenrod Tint">
      <a:srgbClr val="E9D599"/>
    </a:custClr>
    <a:custClr name="Forest">
      <a:srgbClr val="00843D"/>
    </a:custClr>
    <a:custClr name="Forest Tint">
      <a:srgbClr val="66B797"/>
    </a:custClr>
    <a:custClr name="Plum">
      <a:srgbClr val="890C58"/>
    </a:custClr>
    <a:custClr name="Plum Tint">
      <a:srgbClr val="B37A9F"/>
    </a:custClr>
    <a:custClr name="Olive">
      <a:srgbClr val="949300"/>
    </a:custClr>
    <a:custClr name="Olive Tint">
      <a:srgbClr val="D4D499"/>
    </a:custClr>
    <a:custClr name="Teal">
      <a:srgbClr val="007377"/>
    </a:custClr>
    <a:custClr name="Teal Tint">
      <a:srgbClr val="99C7C9"/>
    </a:custClr>
    <a:custClr name="Tangerine">
      <a:srgbClr val="ED8B00"/>
    </a:custClr>
    <a:custClr name="Tangerine Tint">
      <a:srgbClr val="F8D199"/>
    </a:custClr>
    <a:custClr name="Purple">
      <a:srgbClr val="6B3077"/>
    </a:custClr>
    <a:custClr name="Purple Tint">
      <a:srgbClr val="C4ACC9"/>
    </a:custClr>
    <a:custClr name="Green">
      <a:srgbClr val="84BD00"/>
    </a:custClr>
    <a:custClr name="Green Tint">
      <a:srgbClr val="CEE599"/>
    </a:custClr>
    <a:custClr name="White">
      <a:srgbClr val="FFFFFF"/>
    </a:custClr>
    <a:custClr name="White">
      <a:srgbClr val="FFFFFF"/>
    </a:custClr>
    <a:custClr name="Burnt Orange">
      <a:srgbClr val="CB6015"/>
    </a:custClr>
    <a:custClr name="Citi Cyan Tint (20%)">
      <a:srgbClr val="CCF2FC"/>
    </a:custClr>
    <a:custClr name="Citi Light Gray Tint(20%)">
      <a:srgbClr val="EAEBEB"/>
    </a:custClr>
  </a:custClrLst>
  <a:extLst>
    <a:ext uri="{05A4C25C-085E-4340-85A3-A5531E510DB2}">
      <thm15:themeFamily xmlns:thm15="http://schemas.microsoft.com/office/thememl/2012/main" name="Powerpoint_Template" id="{3273D626-74B2-4657-B04E-A51B0AC0A803}" vid="{2359BF11-C5DC-4C20-935C-E0FE0D731B6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owerpoint_Template" id="{3273D626-74B2-4657-B04E-A51B0AC0A803}" vid="{7D1253BD-447D-4EE6-8D2F-DDBB4716EADD}"/>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Comments xmlns="71bf3f0a-df54-467d-89c2-87f8d534ba77"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0F8E8959049E8428369959651C7B244" ma:contentTypeVersion="1" ma:contentTypeDescription="Create a new document." ma:contentTypeScope="" ma:versionID="a3dfc01f428c3fcbfdafd221a376b9de">
  <xsd:schema xmlns:xsd="http://www.w3.org/2001/XMLSchema" xmlns:p="http://schemas.microsoft.com/office/2006/metadata/properties" xmlns:ns2="71bf3f0a-df54-467d-89c2-87f8d534ba77" targetNamespace="http://schemas.microsoft.com/office/2006/metadata/properties" ma:root="true" ma:fieldsID="96a372070048e73f7666a0524ec77300" ns2:_="">
    <xsd:import namespace="71bf3f0a-df54-467d-89c2-87f8d534ba77"/>
    <xsd:element name="properties">
      <xsd:complexType>
        <xsd:sequence>
          <xsd:element name="documentManagement">
            <xsd:complexType>
              <xsd:all>
                <xsd:element ref="ns2:Comments" minOccurs="0"/>
              </xsd:all>
            </xsd:complexType>
          </xsd:element>
        </xsd:sequence>
      </xsd:complexType>
    </xsd:element>
  </xsd:schema>
  <xsd:schema xmlns:xsd="http://www.w3.org/2001/XMLSchema" xmlns:dms="http://schemas.microsoft.com/office/2006/documentManagement/types" targetNamespace="71bf3f0a-df54-467d-89c2-87f8d534ba77" elementFormDefault="qualified">
    <xsd:import namespace="http://schemas.microsoft.com/office/2006/documentManagement/types"/>
    <xsd:element name="Comments" ma:index="10" nillable="true" ma:displayName="Comments" ma:internalName="Comments">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24559248-63FA-4C6E-A37D-96FF4426E5C5}">
  <ds:schemaRefs>
    <ds:schemaRef ds:uri="http://purl.org/dc/elements/1.1/"/>
    <ds:schemaRef ds:uri="http://schemas.microsoft.com/office/2006/documentManagement/types"/>
    <ds:schemaRef ds:uri="http://www.w3.org/XML/1998/namespace"/>
    <ds:schemaRef ds:uri="http://purl.org/dc/terms/"/>
    <ds:schemaRef ds:uri="http://purl.org/dc/dcmitype/"/>
    <ds:schemaRef ds:uri="http://schemas.openxmlformats.org/package/2006/metadata/core-properties"/>
    <ds:schemaRef ds:uri="71bf3f0a-df54-467d-89c2-87f8d534ba77"/>
    <ds:schemaRef ds:uri="http://schemas.microsoft.com/office/2006/metadata/properties"/>
  </ds:schemaRefs>
</ds:datastoreItem>
</file>

<file path=customXml/itemProps2.xml><?xml version="1.0" encoding="utf-8"?>
<ds:datastoreItem xmlns:ds="http://schemas.openxmlformats.org/officeDocument/2006/customXml" ds:itemID="{8ABB6DC8-0142-4676-96FE-F1693BA95046}">
  <ds:schemaRefs>
    <ds:schemaRef ds:uri="http://schemas.microsoft.com/sharepoint/v3/contenttype/forms"/>
  </ds:schemaRefs>
</ds:datastoreItem>
</file>

<file path=customXml/itemProps3.xml><?xml version="1.0" encoding="utf-8"?>
<ds:datastoreItem xmlns:ds="http://schemas.openxmlformats.org/officeDocument/2006/customXml" ds:itemID="{2C674307-C299-473D-A73D-C7DBA1A7BA1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bf3f0a-df54-467d-89c2-87f8d534ba77"/>
    <ds:schemaRef ds:uri="http://schemas.microsoft.com/office/2006/documentManagement/typ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blank</Template>
  <TotalTime>1966</TotalTime>
  <Words>1456</Words>
  <Application>Microsoft Office PowerPoint</Application>
  <PresentationFormat>On-screen Show (16:9)</PresentationFormat>
  <Paragraphs>84</Paragraphs>
  <Slides>11</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11</vt:i4>
      </vt:variant>
    </vt:vector>
  </HeadingPairs>
  <TitlesOfParts>
    <vt:vector size="21" baseType="lpstr">
      <vt:lpstr>Arial</vt:lpstr>
      <vt:lpstr>Calibri</vt:lpstr>
      <vt:lpstr>Calibri Light</vt:lpstr>
      <vt:lpstr>Geneva</vt:lpstr>
      <vt:lpstr>STKaiti</vt:lpstr>
      <vt:lpstr>Symbol</vt:lpstr>
      <vt:lpstr>Wingdings</vt:lpstr>
      <vt:lpstr>ヒラギノ角ゴ Pro W3</vt:lpstr>
      <vt:lpstr>L&amp;T Infotech</vt:lpstr>
      <vt:lpstr>Custom Design</vt:lpstr>
      <vt:lpstr>Introduction to GCE</vt:lpstr>
      <vt:lpstr>What’s inside?</vt:lpstr>
      <vt:lpstr>GCE:</vt:lpstr>
      <vt:lpstr>GCE - Terminologies</vt:lpstr>
      <vt:lpstr>GCE - Terminologies</vt:lpstr>
      <vt:lpstr>Modules of GCE</vt:lpstr>
      <vt:lpstr>Partner Systems</vt:lpstr>
      <vt:lpstr>EOD (End of Day processing)</vt:lpstr>
      <vt:lpstr>SOD (Start of day processing)</vt:lpstr>
      <vt:lpstr>External Feeds</vt:lpstr>
      <vt:lpstr>PowerPoint Presentation</vt:lpstr>
    </vt:vector>
  </TitlesOfParts>
  <Company>Citi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Liquidity Management</dc:title>
  <dc:creator>Sajal Agarwal</dc:creator>
  <cp:lastModifiedBy>Sajal Agarwal</cp:lastModifiedBy>
  <cp:revision>45</cp:revision>
  <cp:lastPrinted>2015-11-28T12:28:20Z</cp:lastPrinted>
  <dcterms:created xsi:type="dcterms:W3CDTF">2017-11-29T05:45:07Z</dcterms:created>
  <dcterms:modified xsi:type="dcterms:W3CDTF">2018-01-05T10:31:52Z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0x01010070F8E8959049E8428369959651C7B244</vt:lpwstr>
  </property>
  <property fmtid="{D5CDD505-2E9C-101B-9397-08002B2CF9AE}" pid="3" name="TOCOpt">
    <vt:lpwstr>1</vt:lpwstr>
  </property>
  <property fmtid="{D5CDD505-2E9C-101B-9397-08002B2CF9AE}" pid="4" name="PNSOpt">
    <vt:lpwstr>1</vt:lpwstr>
  </property>
  <property fmtid="{D5CDD505-2E9C-101B-9397-08002B2CF9AE}" pid="5" name="Pitchbook Compatible">
    <vt:lpwstr>Yes</vt:lpwstr>
  </property>
</Properties>
</file>
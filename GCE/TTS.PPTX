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72" r:id="rId5"/>
  </p:sldMasterIdLst>
  <p:notesMasterIdLst>
    <p:notesMasterId r:id="rId14"/>
  </p:notesMasterIdLst>
  <p:handoutMasterIdLst>
    <p:handoutMasterId r:id="rId15"/>
  </p:handoutMasterIdLst>
  <p:sldIdLst>
    <p:sldId id="256" r:id="rId6"/>
    <p:sldId id="274" r:id="rId7"/>
    <p:sldId id="257" r:id="rId8"/>
    <p:sldId id="273" r:id="rId9"/>
    <p:sldId id="270" r:id="rId10"/>
    <p:sldId id="272" r:id="rId11"/>
    <p:sldId id="271" r:id="rId12"/>
    <p:sldId id="269" r:id="rId13"/>
  </p:sldIdLst>
  <p:sldSz cx="9144000" cy="5143500" type="screen16x9"/>
  <p:notesSz cx="7010400" cy="9236075"/>
  <p:defaultTextStyle>
    <a:defPPr>
      <a:defRPr lang="en-US"/>
    </a:defPPr>
    <a:lvl1pPr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1pPr>
    <a:lvl2pPr marL="389626"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2pPr>
    <a:lvl3pPr marL="779252"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3pPr>
    <a:lvl4pPr marL="1168878"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4pPr>
    <a:lvl5pPr marL="1558503"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5pPr>
    <a:lvl6pPr marL="1948129" algn="l" defTabSz="779252" rtl="0" eaLnBrk="1" latinLnBrk="0" hangingPunct="1">
      <a:defRPr sz="1200" kern="1200">
        <a:solidFill>
          <a:schemeClr val="tx1"/>
        </a:solidFill>
        <a:latin typeface="Arial" pitchFamily="34" charset="0"/>
        <a:ea typeface="ヒラギノ角ゴ Pro W3" pitchFamily="124" charset="-128"/>
        <a:cs typeface="+mn-cs"/>
      </a:defRPr>
    </a:lvl6pPr>
    <a:lvl7pPr marL="2337755" algn="l" defTabSz="779252" rtl="0" eaLnBrk="1" latinLnBrk="0" hangingPunct="1">
      <a:defRPr sz="1200" kern="1200">
        <a:solidFill>
          <a:schemeClr val="tx1"/>
        </a:solidFill>
        <a:latin typeface="Arial" pitchFamily="34" charset="0"/>
        <a:ea typeface="ヒラギノ角ゴ Pro W3" pitchFamily="124" charset="-128"/>
        <a:cs typeface="+mn-cs"/>
      </a:defRPr>
    </a:lvl7pPr>
    <a:lvl8pPr marL="2727381" algn="l" defTabSz="779252" rtl="0" eaLnBrk="1" latinLnBrk="0" hangingPunct="1">
      <a:defRPr sz="1200" kern="1200">
        <a:solidFill>
          <a:schemeClr val="tx1"/>
        </a:solidFill>
        <a:latin typeface="Arial" pitchFamily="34" charset="0"/>
        <a:ea typeface="ヒラギノ角ゴ Pro W3" pitchFamily="124" charset="-128"/>
        <a:cs typeface="+mn-cs"/>
      </a:defRPr>
    </a:lvl8pPr>
    <a:lvl9pPr marL="3117007" algn="l" defTabSz="779252" rtl="0" eaLnBrk="1" latinLnBrk="0" hangingPunct="1">
      <a:defRPr sz="1200" kern="1200">
        <a:solidFill>
          <a:schemeClr val="tx1"/>
        </a:solidFill>
        <a:latin typeface="Arial" pitchFamily="34" charset="0"/>
        <a:ea typeface="ヒラギノ角ゴ Pro W3" pitchFamily="124" charset="-128"/>
        <a:cs typeface="+mn-cs"/>
      </a:defRPr>
    </a:lvl9pPr>
  </p:defaultTextStyle>
  <p:extLst>
    <p:ext uri="{EFAFB233-063F-42B5-8137-9DF3F51BA10A}">
      <p15:sldGuideLst xmlns:p15="http://schemas.microsoft.com/office/powerpoint/2012/main">
        <p15:guide id="1" orient="horz" pos="2532" userDrawn="1">
          <p15:clr>
            <a:srgbClr val="A4A3A4"/>
          </p15:clr>
        </p15:guide>
        <p15:guide id="4" orient="horz" pos="2748" userDrawn="1">
          <p15:clr>
            <a:srgbClr val="A4A3A4"/>
          </p15:clr>
        </p15:guide>
        <p15:guide id="5" orient="horz" pos="3888">
          <p15:clr>
            <a:srgbClr val="A4A3A4"/>
          </p15:clr>
        </p15:guide>
        <p15:guide id="11" pos="5760" userDrawn="1">
          <p15:clr>
            <a:srgbClr val="A4A3A4"/>
          </p15:clr>
        </p15:guide>
        <p15:guide id="15" pos="6144">
          <p15:clr>
            <a:srgbClr val="A4A3A4"/>
          </p15:clr>
        </p15:guide>
        <p15:guide id="16" orient="horz" pos="276" userDrawn="1">
          <p15:clr>
            <a:srgbClr val="A4A3A4"/>
          </p15:clr>
        </p15:guide>
        <p15:guide id="20" pos="2736" userDrawn="1">
          <p15:clr>
            <a:srgbClr val="A4A3A4"/>
          </p15:clr>
        </p15:guide>
        <p15:guide id="21" pos="5688" userDrawn="1">
          <p15:clr>
            <a:srgbClr val="A4A3A4"/>
          </p15:clr>
        </p15:guide>
        <p15:guide id="22" orient="horz" pos="1956" userDrawn="1">
          <p15:clr>
            <a:srgbClr val="A4A3A4"/>
          </p15:clr>
        </p15:guide>
        <p15:guide id="26" orient="horz" pos="3036" userDrawn="1">
          <p15:clr>
            <a:srgbClr val="A4A3A4"/>
          </p15:clr>
        </p15:guide>
        <p15:guide id="27" orient="horz" pos="1644" userDrawn="1">
          <p15:clr>
            <a:srgbClr val="A4A3A4"/>
          </p15:clr>
        </p15:guide>
        <p15:guide id="28" orient="horz" pos="1860" userDrawn="1">
          <p15:clr>
            <a:srgbClr val="A4A3A4"/>
          </p15:clr>
        </p15:guide>
        <p15:guide id="29" pos="2880" userDrawn="1">
          <p15:clr>
            <a:srgbClr val="A4A3A4"/>
          </p15:clr>
        </p15:guide>
        <p15:guide id="31" orient="horz" pos="804" userDrawn="1">
          <p15:clr>
            <a:srgbClr val="A4A3A4"/>
          </p15:clr>
        </p15:guide>
        <p15:guide id="32" pos="5448" userDrawn="1">
          <p15:clr>
            <a:srgbClr val="A4A3A4"/>
          </p15:clr>
        </p15:guide>
        <p15:guide id="33" pos="480" userDrawn="1">
          <p15:clr>
            <a:srgbClr val="A4A3A4"/>
          </p15:clr>
        </p15:guide>
        <p15:guide id="34" pos="336" userDrawn="1">
          <p15:clr>
            <a:srgbClr val="A4A3A4"/>
          </p15:clr>
        </p15:guide>
        <p15:guide id="35" orient="horz" pos="348" userDrawn="1">
          <p15:clr>
            <a:srgbClr val="A4A3A4"/>
          </p15:clr>
        </p15:guide>
        <p15:guide id="36" orient="horz" pos="2169">
          <p15:clr>
            <a:srgbClr val="A4A3A4"/>
          </p15:clr>
        </p15:guide>
        <p15:guide id="37" orient="horz" pos="3239">
          <p15:clr>
            <a:srgbClr val="A4A3A4"/>
          </p15:clr>
        </p15:guide>
        <p15:guide id="38" orient="horz" pos="606">
          <p15:clr>
            <a:srgbClr val="A4A3A4"/>
          </p15:clr>
        </p15:guide>
        <p15:guide id="39" orient="horz" pos="2772">
          <p15:clr>
            <a:srgbClr val="A4A3A4"/>
          </p15:clr>
        </p15:guide>
        <p15:guide id="40" pos="5759">
          <p15:clr>
            <a:srgbClr val="A4A3A4"/>
          </p15:clr>
        </p15:guide>
        <p15:guide id="41" pos="5700">
          <p15:clr>
            <a:srgbClr val="A4A3A4"/>
          </p15:clr>
        </p15:guide>
        <p15:guide id="42" pos="2944">
          <p15:clr>
            <a:srgbClr val="A4A3A4"/>
          </p15:clr>
        </p15:guide>
        <p15:guide id="43" pos="468">
          <p15:clr>
            <a:srgbClr val="A4A3A4"/>
          </p15:clr>
        </p15:guide>
      </p15:sldGuideLst>
    </p:ext>
    <p:ext uri="{2D200454-40CA-4A62-9FC3-DE9A4176ACB9}">
      <p15:notesGuideLst xmlns:p15="http://schemas.microsoft.com/office/powerpoint/2012/main">
        <p15:guide id="1" orient="horz" pos="2909">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CC00"/>
    <a:srgbClr val="F2F2F2"/>
    <a:srgbClr val="00CCFF"/>
    <a:srgbClr val="00008C"/>
    <a:srgbClr val="001EFF"/>
    <a:srgbClr val="F46E00"/>
    <a:srgbClr val="9AF7FF"/>
    <a:srgbClr val="D9D9D9"/>
    <a:srgbClr val="2C2D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2895" autoAdjust="0"/>
  </p:normalViewPr>
  <p:slideViewPr>
    <p:cSldViewPr snapToGrid="0">
      <p:cViewPr varScale="1">
        <p:scale>
          <a:sx n="103" d="100"/>
          <a:sy n="103" d="100"/>
        </p:scale>
        <p:origin x="108" y="786"/>
      </p:cViewPr>
      <p:guideLst>
        <p:guide orient="horz" pos="2532"/>
        <p:guide orient="horz" pos="2748"/>
        <p:guide orient="horz" pos="3888"/>
        <p:guide pos="5760"/>
        <p:guide pos="6144"/>
        <p:guide orient="horz" pos="276"/>
        <p:guide pos="2736"/>
        <p:guide pos="5688"/>
        <p:guide orient="horz" pos="1956"/>
        <p:guide orient="horz" pos="3036"/>
        <p:guide orient="horz" pos="1644"/>
        <p:guide orient="horz" pos="1860"/>
        <p:guide pos="2880"/>
        <p:guide orient="horz" pos="804"/>
        <p:guide pos="5448"/>
        <p:guide pos="480"/>
        <p:guide pos="336"/>
        <p:guide orient="horz" pos="348"/>
        <p:guide orient="horz" pos="2169"/>
        <p:guide orient="horz" pos="3239"/>
        <p:guide orient="horz" pos="606"/>
        <p:guide orient="horz" pos="2772"/>
        <p:guide pos="5759"/>
        <p:guide pos="5700"/>
        <p:guide pos="2944"/>
        <p:guide pos="4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66" y="-120"/>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1" y="2"/>
            <a:ext cx="3047645" cy="4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335" tIns="43666" rIns="87335" bIns="43666" numCol="1" anchor="t" anchorCtr="0" compatLnSpc="1">
            <a:prstTxWarp prst="textNoShape">
              <a:avLst/>
            </a:prstTxWarp>
          </a:bodyPr>
          <a:lstStyle>
            <a:lvl1pPr algn="l" defTabSz="873824">
              <a:defRPr sz="1100" smtClean="0"/>
            </a:lvl1pPr>
          </a:lstStyle>
          <a:p>
            <a:pPr>
              <a:defRPr/>
            </a:pPr>
            <a:endParaRPr lang="en-US" dirty="0"/>
          </a:p>
        </p:txBody>
      </p:sp>
      <p:sp>
        <p:nvSpPr>
          <p:cNvPr id="31747" name="Rectangle 3"/>
          <p:cNvSpPr>
            <a:spLocks noGrp="1" noChangeArrowheads="1"/>
          </p:cNvSpPr>
          <p:nvPr>
            <p:ph type="dt" sz="quarter" idx="1"/>
          </p:nvPr>
        </p:nvSpPr>
        <p:spPr bwMode="auto">
          <a:xfrm>
            <a:off x="3962756" y="2"/>
            <a:ext cx="3047644" cy="4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335" tIns="43666" rIns="87335" bIns="43666" numCol="1" anchor="t" anchorCtr="0" compatLnSpc="1">
            <a:prstTxWarp prst="textNoShape">
              <a:avLst/>
            </a:prstTxWarp>
          </a:bodyPr>
          <a:lstStyle>
            <a:lvl1pPr algn="r" defTabSz="873824">
              <a:defRPr sz="1100" smtClean="0"/>
            </a:lvl1pPr>
          </a:lstStyle>
          <a:p>
            <a:pPr>
              <a:defRPr/>
            </a:pPr>
            <a:endParaRPr lang="en-US" dirty="0"/>
          </a:p>
        </p:txBody>
      </p:sp>
      <p:sp>
        <p:nvSpPr>
          <p:cNvPr id="31748" name="Rectangle 4"/>
          <p:cNvSpPr>
            <a:spLocks noGrp="1" noChangeArrowheads="1"/>
          </p:cNvSpPr>
          <p:nvPr>
            <p:ph type="ftr" sz="quarter" idx="2"/>
          </p:nvPr>
        </p:nvSpPr>
        <p:spPr bwMode="auto">
          <a:xfrm>
            <a:off x="1" y="8781867"/>
            <a:ext cx="3047645" cy="4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335" tIns="43666" rIns="87335" bIns="43666" numCol="1" anchor="b" anchorCtr="0" compatLnSpc="1">
            <a:prstTxWarp prst="textNoShape">
              <a:avLst/>
            </a:prstTxWarp>
          </a:bodyPr>
          <a:lstStyle>
            <a:lvl1pPr algn="l" defTabSz="873824">
              <a:defRPr sz="1100" smtClean="0"/>
            </a:lvl1pPr>
          </a:lstStyle>
          <a:p>
            <a:pPr>
              <a:defRPr/>
            </a:pPr>
            <a:endParaRPr lang="en-US" dirty="0"/>
          </a:p>
        </p:txBody>
      </p:sp>
      <p:sp>
        <p:nvSpPr>
          <p:cNvPr id="31749" name="Rectangle 5"/>
          <p:cNvSpPr>
            <a:spLocks noGrp="1" noChangeArrowheads="1"/>
          </p:cNvSpPr>
          <p:nvPr>
            <p:ph type="sldNum" sz="quarter" idx="3"/>
          </p:nvPr>
        </p:nvSpPr>
        <p:spPr bwMode="auto">
          <a:xfrm>
            <a:off x="3962756" y="8781867"/>
            <a:ext cx="3047644" cy="4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335" tIns="43666" rIns="87335" bIns="43666" numCol="1" anchor="b" anchorCtr="0" compatLnSpc="1">
            <a:prstTxWarp prst="textNoShape">
              <a:avLst/>
            </a:prstTxWarp>
          </a:bodyPr>
          <a:lstStyle>
            <a:lvl1pPr algn="r" defTabSz="873824">
              <a:defRPr sz="1100" smtClean="0"/>
            </a:lvl1pPr>
          </a:lstStyle>
          <a:p>
            <a:pPr>
              <a:defRPr/>
            </a:pPr>
            <a:fld id="{DA6835A3-9366-4C20-B248-0AC9C46AA67A}" type="slidenum">
              <a:rPr lang="en-US"/>
              <a:pPr>
                <a:defRPr/>
              </a:pPr>
              <a:t>‹#›</a:t>
            </a:fld>
            <a:endParaRPr lang="en-US" dirty="0"/>
          </a:p>
        </p:txBody>
      </p:sp>
    </p:spTree>
    <p:extLst>
      <p:ext uri="{BB962C8B-B14F-4D97-AF65-F5344CB8AC3E}">
        <p14:creationId xmlns:p14="http://schemas.microsoft.com/office/powerpoint/2010/main" val="21050723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3" y="0"/>
            <a:ext cx="3036205" cy="46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t" anchorCtr="0" compatLnSpc="1">
            <a:prstTxWarp prst="textNoShape">
              <a:avLst/>
            </a:prstTxWarp>
          </a:bodyPr>
          <a:lstStyle>
            <a:lvl1pPr algn="l" defTabSz="889540">
              <a:defRPr sz="1100" smtClean="0"/>
            </a:lvl1pPr>
          </a:lstStyle>
          <a:p>
            <a:pPr>
              <a:defRPr/>
            </a:pPr>
            <a:endParaRPr lang="en-US" dirty="0"/>
          </a:p>
        </p:txBody>
      </p:sp>
      <p:sp>
        <p:nvSpPr>
          <p:cNvPr id="29699" name="Rectangle 3"/>
          <p:cNvSpPr>
            <a:spLocks noGrp="1" noChangeArrowheads="1"/>
          </p:cNvSpPr>
          <p:nvPr>
            <p:ph type="dt" idx="1"/>
          </p:nvPr>
        </p:nvSpPr>
        <p:spPr bwMode="auto">
          <a:xfrm>
            <a:off x="3972563" y="0"/>
            <a:ext cx="3036205" cy="46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t" anchorCtr="0" compatLnSpc="1">
            <a:prstTxWarp prst="textNoShape">
              <a:avLst/>
            </a:prstTxWarp>
          </a:bodyPr>
          <a:lstStyle>
            <a:lvl1pPr algn="r" defTabSz="889540">
              <a:defRPr sz="1100" smtClean="0"/>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427038" y="693738"/>
            <a:ext cx="6156325"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1" name="Rectangle 5"/>
          <p:cNvSpPr>
            <a:spLocks noGrp="1" noChangeArrowheads="1"/>
          </p:cNvSpPr>
          <p:nvPr>
            <p:ph type="body" sz="quarter" idx="3"/>
          </p:nvPr>
        </p:nvSpPr>
        <p:spPr bwMode="auto">
          <a:xfrm>
            <a:off x="699407" y="4387248"/>
            <a:ext cx="5611588" cy="4154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3" y="8775968"/>
            <a:ext cx="3036205" cy="458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b" anchorCtr="0" compatLnSpc="1">
            <a:prstTxWarp prst="textNoShape">
              <a:avLst/>
            </a:prstTxWarp>
          </a:bodyPr>
          <a:lstStyle>
            <a:lvl1pPr algn="l" defTabSz="889540">
              <a:defRPr sz="1100" smtClean="0"/>
            </a:lvl1pPr>
          </a:lstStyle>
          <a:p>
            <a:pPr>
              <a:defRPr/>
            </a:pPr>
            <a:endParaRPr lang="en-US" dirty="0"/>
          </a:p>
        </p:txBody>
      </p:sp>
      <p:sp>
        <p:nvSpPr>
          <p:cNvPr id="29703" name="Rectangle 7"/>
          <p:cNvSpPr>
            <a:spLocks noGrp="1" noChangeArrowheads="1"/>
          </p:cNvSpPr>
          <p:nvPr>
            <p:ph type="sldNum" sz="quarter" idx="5"/>
          </p:nvPr>
        </p:nvSpPr>
        <p:spPr bwMode="auto">
          <a:xfrm>
            <a:off x="3972563" y="8775968"/>
            <a:ext cx="3036205" cy="458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b" anchorCtr="0" compatLnSpc="1">
            <a:prstTxWarp prst="textNoShape">
              <a:avLst/>
            </a:prstTxWarp>
          </a:bodyPr>
          <a:lstStyle>
            <a:lvl1pPr algn="r" defTabSz="889540">
              <a:defRPr sz="1100" smtClean="0"/>
            </a:lvl1pPr>
          </a:lstStyle>
          <a:p>
            <a:pPr>
              <a:defRPr/>
            </a:pPr>
            <a:fld id="{C0C428FF-E08F-45DE-BAC9-258D4444EC10}" type="slidenum">
              <a:rPr lang="en-US"/>
              <a:pPr>
                <a:defRPr/>
              </a:pPr>
              <a:t>‹#›</a:t>
            </a:fld>
            <a:endParaRPr lang="en-US" dirty="0"/>
          </a:p>
        </p:txBody>
      </p:sp>
    </p:spTree>
    <p:extLst>
      <p:ext uri="{BB962C8B-B14F-4D97-AF65-F5344CB8AC3E}">
        <p14:creationId xmlns:p14="http://schemas.microsoft.com/office/powerpoint/2010/main" val="33764490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1pPr>
    <a:lvl2pPr marL="389626"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2pPr>
    <a:lvl3pPr marL="779252"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3pPr>
    <a:lvl4pPr marL="1168878"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4pPr>
    <a:lvl5pPr marL="1558503"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5pPr>
    <a:lvl6pPr marL="1948129" algn="l" defTabSz="779252" rtl="0" eaLnBrk="1" latinLnBrk="0" hangingPunct="1">
      <a:defRPr sz="1000" kern="1200">
        <a:solidFill>
          <a:schemeClr val="tx1"/>
        </a:solidFill>
        <a:latin typeface="+mn-lt"/>
        <a:ea typeface="+mn-ea"/>
        <a:cs typeface="+mn-cs"/>
      </a:defRPr>
    </a:lvl6pPr>
    <a:lvl7pPr marL="2337755" algn="l" defTabSz="779252" rtl="0" eaLnBrk="1" latinLnBrk="0" hangingPunct="1">
      <a:defRPr sz="1000" kern="1200">
        <a:solidFill>
          <a:schemeClr val="tx1"/>
        </a:solidFill>
        <a:latin typeface="+mn-lt"/>
        <a:ea typeface="+mn-ea"/>
        <a:cs typeface="+mn-cs"/>
      </a:defRPr>
    </a:lvl7pPr>
    <a:lvl8pPr marL="2727381" algn="l" defTabSz="779252" rtl="0" eaLnBrk="1" latinLnBrk="0" hangingPunct="1">
      <a:defRPr sz="1000" kern="1200">
        <a:solidFill>
          <a:schemeClr val="tx1"/>
        </a:solidFill>
        <a:latin typeface="+mn-lt"/>
        <a:ea typeface="+mn-ea"/>
        <a:cs typeface="+mn-cs"/>
      </a:defRPr>
    </a:lvl8pPr>
    <a:lvl9pPr marL="3117007" algn="l" defTabSz="779252"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0C428FF-E08F-45DE-BAC9-258D4444EC10}" type="slidenum">
              <a:rPr lang="en-US" smtClean="0"/>
              <a:pPr>
                <a:defRPr/>
              </a:pPr>
              <a:t>8</a:t>
            </a:fld>
            <a:endParaRPr lang="en-US" dirty="0"/>
          </a:p>
        </p:txBody>
      </p:sp>
    </p:spTree>
    <p:extLst>
      <p:ext uri="{BB962C8B-B14F-4D97-AF65-F5344CB8AC3E}">
        <p14:creationId xmlns:p14="http://schemas.microsoft.com/office/powerpoint/2010/main" val="19300270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F2F2F2"/>
        </a:solidFill>
        <a:effectLst/>
      </p:bgPr>
    </p:bg>
    <p:spTree>
      <p:nvGrpSpPr>
        <p:cNvPr id="1" name=""/>
        <p:cNvGrpSpPr/>
        <p:nvPr/>
      </p:nvGrpSpPr>
      <p:grpSpPr>
        <a:xfrm>
          <a:off x="0" y="0"/>
          <a:ext cx="0" cy="0"/>
          <a:chOff x="0" y="0"/>
          <a:chExt cx="0" cy="0"/>
        </a:xfrm>
      </p:grpSpPr>
      <p:pic>
        <p:nvPicPr>
          <p:cNvPr id="2062" name="Picture 14" descr="C:\Users\10630824\Desktop\Microot template\poly.em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3099"/>
            <a:ext cx="9153331" cy="467040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84"/>
          <p:cNvSpPr>
            <a:spLocks noGrp="1" noChangeArrowheads="1"/>
          </p:cNvSpPr>
          <p:nvPr>
            <p:ph type="subTitle" idx="1" hasCustomPrompt="1"/>
          </p:nvPr>
        </p:nvSpPr>
        <p:spPr>
          <a:xfrm>
            <a:off x="1348105" y="3230193"/>
            <a:ext cx="5556738" cy="221456"/>
          </a:xfrm>
          <a:ln>
            <a:noFill/>
          </a:ln>
        </p:spPr>
        <p:txBody>
          <a:bodyPr anchor="ctr" anchorCtr="0"/>
          <a:lstStyle>
            <a:lvl1pPr marL="0" indent="0">
              <a:buFont typeface="Symbol" pitchFamily="18" charset="2"/>
              <a:buNone/>
              <a:defRPr sz="1600" b="0" i="0">
                <a:solidFill>
                  <a:srgbClr val="ED8B00"/>
                </a:solidFill>
                <a:latin typeface="Calibri Light"/>
                <a:cs typeface="Calibri Light"/>
              </a:defRPr>
            </a:lvl1pPr>
          </a:lstStyle>
          <a:p>
            <a:pPr lvl="0"/>
            <a:r>
              <a:rPr lang="en-US" noProof="0" dirty="0"/>
              <a:t>Click to Edit Master Subtitle Style</a:t>
            </a:r>
          </a:p>
        </p:txBody>
      </p:sp>
      <p:sp>
        <p:nvSpPr>
          <p:cNvPr id="11" name="Rectangle 83"/>
          <p:cNvSpPr>
            <a:spLocks noGrp="1" noChangeArrowheads="1"/>
          </p:cNvSpPr>
          <p:nvPr>
            <p:ph type="ctrTitle" hasCustomPrompt="1"/>
          </p:nvPr>
        </p:nvSpPr>
        <p:spPr>
          <a:xfrm>
            <a:off x="1348105" y="2269550"/>
            <a:ext cx="5561624" cy="430887"/>
          </a:xfrm>
          <a:noFill/>
          <a:ln w="9525">
            <a:noFill/>
            <a:miter lim="800000"/>
            <a:headEnd/>
            <a:tailEnd/>
          </a:ln>
          <a:extLst/>
        </p:spPr>
        <p:txBody>
          <a:bodyPr anchor="t"/>
          <a:lstStyle>
            <a:lvl1pPr>
              <a:defRPr sz="2700" b="0" i="0">
                <a:solidFill>
                  <a:srgbClr val="2C2D8B"/>
                </a:solidFill>
                <a:latin typeface="Calibri Light"/>
                <a:cs typeface="Calibri Light"/>
              </a:defRPr>
            </a:lvl1pPr>
          </a:lstStyle>
          <a:p>
            <a:pPr lvl="0"/>
            <a:r>
              <a:rPr lang="en-US" noProof="0" dirty="0"/>
              <a:t>Click to Edit Master Title Style</a:t>
            </a:r>
          </a:p>
        </p:txBody>
      </p:sp>
      <p:pic>
        <p:nvPicPr>
          <p:cNvPr id="16"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6529817" y="4577667"/>
            <a:ext cx="1369306" cy="25412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30317" y="282698"/>
            <a:ext cx="684153" cy="510622"/>
          </a:xfrm>
          <a:prstGeom prst="rect">
            <a:avLst/>
          </a:prstGeom>
        </p:spPr>
      </p:pic>
      <p:pic>
        <p:nvPicPr>
          <p:cNvPr id="18" name="Picture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66334" y="357510"/>
            <a:ext cx="641149" cy="360999"/>
          </a:xfrm>
          <a:prstGeom prst="rect">
            <a:avLst/>
          </a:prstGeom>
        </p:spPr>
      </p:pic>
    </p:spTree>
    <p:extLst>
      <p:ext uri="{BB962C8B-B14F-4D97-AF65-F5344CB8AC3E}">
        <p14:creationId xmlns:p14="http://schemas.microsoft.com/office/powerpoint/2010/main" val="2319705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189" y="940222"/>
            <a:ext cx="8615227" cy="37250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269878" y="240427"/>
            <a:ext cx="8024283" cy="384721"/>
          </a:xfrm>
          <a:noFill/>
          <a:ln>
            <a:noFill/>
          </a:ln>
        </p:spPr>
        <p:txBody>
          <a:bodyPr/>
          <a:lstStyle>
            <a:lvl1pPr>
              <a:defRPr b="0"/>
            </a:lvl1pPr>
          </a:lstStyle>
          <a:p>
            <a:r>
              <a:rPr lang="en-US" dirty="0"/>
              <a:t>Click to Edit Master Title Style</a:t>
            </a:r>
          </a:p>
        </p:txBody>
      </p:sp>
      <p:pic>
        <p:nvPicPr>
          <p:cNvPr id="5" name="Picture 2" descr="C:\Users\10630824\Desktop\Microot template\LTI logo (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4604" y="4755049"/>
            <a:ext cx="426695" cy="24928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C:\Users\10630824\Desktop\Microot template\corners (3).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56377" y="3907747"/>
            <a:ext cx="1430176" cy="164916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userDrawn="1"/>
        </p:nvSpPr>
        <p:spPr>
          <a:xfrm>
            <a:off x="8499435" y="4824116"/>
            <a:ext cx="364703" cy="276999"/>
          </a:xfrm>
          <a:prstGeom prst="rect">
            <a:avLst/>
          </a:prstGeom>
        </p:spPr>
        <p:txBody>
          <a:bodyPr wrap="none">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fld id="{9C5957C0-C9FD-924F-A662-3B71DAE40C56}" type="slidenum">
              <a:rPr kumimoji="0" lang="uk-UA" sz="1200" b="0" i="0" u="none" strike="noStrike" kern="1200" cap="none" spc="0" normalizeH="0" baseline="0" noProof="0" smtClean="0">
                <a:ln>
                  <a:noFill/>
                </a:ln>
                <a:solidFill>
                  <a:schemeClr val="bg1"/>
                </a:solidFill>
                <a:effectLst/>
                <a:uLnTx/>
                <a:uFillTx/>
                <a:latin typeface="Calibri Light"/>
                <a:cs typeface="Calibri Light"/>
              </a:rPr>
              <a:pPr marL="0" marR="0" lvl="0" indent="0" algn="ctr" defTabSz="457200" rtl="0" eaLnBrk="1" fontAlgn="base" latinLnBrk="0" hangingPunct="1">
                <a:lnSpc>
                  <a:spcPct val="100000"/>
                </a:lnSpc>
                <a:spcBef>
                  <a:spcPct val="0"/>
                </a:spcBef>
                <a:spcAft>
                  <a:spcPct val="0"/>
                </a:spcAft>
                <a:buClrTx/>
                <a:buSzTx/>
                <a:buFontTx/>
                <a:buNone/>
                <a:tabLst/>
                <a:defRPr/>
              </a:pPr>
              <a:t>‹#›</a:t>
            </a:fld>
            <a:endParaRPr kumimoji="0" lang="uk-UA" sz="1000" b="0" i="0" u="none" strike="noStrike" kern="1200" cap="none" spc="0" normalizeH="0" baseline="0" noProof="0" dirty="0">
              <a:ln>
                <a:noFill/>
              </a:ln>
              <a:solidFill>
                <a:schemeClr val="bg1"/>
              </a:solidFill>
              <a:effectLst/>
              <a:uLnTx/>
              <a:uFillTx/>
              <a:latin typeface="Calibri Light"/>
              <a:cs typeface="Calibri Light"/>
            </a:endParaRPr>
          </a:p>
        </p:txBody>
      </p:sp>
      <p:pic>
        <p:nvPicPr>
          <p:cNvPr id="8" name="Picture 4" descr="C:\Users\10630824\Desktop\Microot template\corners (2).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flipH="1">
            <a:off x="-25392" y="-30236"/>
            <a:ext cx="688705" cy="699796"/>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11"/>
          <p:cNvSpPr>
            <a:spLocks noGrp="1"/>
          </p:cNvSpPr>
          <p:nvPr>
            <p:ph sz="quarter" idx="10" hasCustomPrompt="1"/>
          </p:nvPr>
        </p:nvSpPr>
        <p:spPr>
          <a:xfrm>
            <a:off x="343291" y="681005"/>
            <a:ext cx="7964402" cy="188523"/>
          </a:xfrm>
        </p:spPr>
        <p:txBody>
          <a:bodyPr/>
          <a:lstStyle>
            <a:lvl1pPr marL="0" indent="0">
              <a:buNone/>
              <a:defRPr sz="1200" b="0" baseline="0">
                <a:solidFill>
                  <a:srgbClr val="ED8B00"/>
                </a:solidFill>
              </a:defRPr>
            </a:lvl1pPr>
          </a:lstStyle>
          <a:p>
            <a:pPr lvl="0"/>
            <a:r>
              <a:rPr lang="en-US" dirty="0"/>
              <a:t>Secondary title place holder</a:t>
            </a:r>
          </a:p>
        </p:txBody>
      </p:sp>
      <p:sp>
        <p:nvSpPr>
          <p:cNvPr id="11" name="TextBox 10"/>
          <p:cNvSpPr txBox="1"/>
          <p:nvPr userDrawn="1"/>
        </p:nvSpPr>
        <p:spPr>
          <a:xfrm>
            <a:off x="3086252" y="4849624"/>
            <a:ext cx="2959099" cy="215444"/>
          </a:xfrm>
          <a:prstGeom prst="rect">
            <a:avLst/>
          </a:prstGeom>
          <a:noFill/>
        </p:spPr>
        <p:txBody>
          <a:bodyPr wrap="square" rtlCol="0">
            <a:spAutoFit/>
          </a:bodyPr>
          <a:lstStyle/>
          <a:p>
            <a:pPr algn="ctr"/>
            <a:r>
              <a:rPr lang="en-US" sz="800" dirty="0">
                <a:solidFill>
                  <a:srgbClr val="7C7C7C"/>
                </a:solidFill>
                <a:latin typeface="Calibri Light"/>
                <a:cs typeface="Calibri Light"/>
              </a:rPr>
              <a:t>©Larsen &amp; Toubro Infotech Ltd. Privileged and Confidential</a:t>
            </a:r>
          </a:p>
        </p:txBody>
      </p:sp>
    </p:spTree>
    <p:extLst>
      <p:ext uri="{BB962C8B-B14F-4D97-AF65-F5344CB8AC3E}">
        <p14:creationId xmlns:p14="http://schemas.microsoft.com/office/powerpoint/2010/main" val="4116109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0"/>
            </a:lvl1pPr>
          </a:lstStyle>
          <a:p>
            <a:r>
              <a:rPr lang="en-US" dirty="0"/>
              <a:t>Click to Edit Master Title Style</a:t>
            </a:r>
          </a:p>
        </p:txBody>
      </p:sp>
      <p:sp>
        <p:nvSpPr>
          <p:cNvPr id="3" name="Content Placeholder 2"/>
          <p:cNvSpPr>
            <a:spLocks noGrp="1"/>
          </p:cNvSpPr>
          <p:nvPr>
            <p:ph sz="half" idx="1"/>
          </p:nvPr>
        </p:nvSpPr>
        <p:spPr>
          <a:xfrm>
            <a:off x="140677" y="971550"/>
            <a:ext cx="4290646" cy="3657600"/>
          </a:xfrm>
        </p:spPr>
        <p:txBody>
          <a:bodyPr/>
          <a:lstStyle>
            <a:lvl1pPr>
              <a:defRPr sz="1400"/>
            </a:lvl1pPr>
            <a:lvl2pPr>
              <a:defRPr sz="1400"/>
            </a:lvl2pPr>
            <a:lvl3pPr>
              <a:defRPr sz="1400"/>
            </a:lvl3pPr>
            <a:lvl4pPr>
              <a:defRPr sz="1400"/>
            </a:lvl4pPr>
            <a:lvl5pPr>
              <a:defRPr sz="14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12677" y="971550"/>
            <a:ext cx="4290646" cy="3657600"/>
          </a:xfrm>
        </p:spPr>
        <p:txBody>
          <a:bodyPr/>
          <a:lstStyle>
            <a:lvl1pPr>
              <a:defRPr sz="1400"/>
            </a:lvl1pPr>
            <a:lvl2pPr>
              <a:defRPr sz="1400"/>
            </a:lvl2pPr>
            <a:lvl3pPr>
              <a:defRPr sz="1400"/>
            </a:lvl3pPr>
            <a:lvl4pPr>
              <a:defRPr sz="1400"/>
            </a:lvl4pPr>
            <a:lvl5pPr>
              <a:defRPr sz="14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2" descr="C:\Users\10630824\Desktop\Microot template\LTI logo (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4604" y="4755049"/>
            <a:ext cx="426695" cy="24928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10630824\Desktop\Microot template\corners (3).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56377" y="3907747"/>
            <a:ext cx="1430176" cy="164916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8499435" y="4824116"/>
            <a:ext cx="364703" cy="276999"/>
          </a:xfrm>
          <a:prstGeom prst="rect">
            <a:avLst/>
          </a:prstGeom>
        </p:spPr>
        <p:txBody>
          <a:bodyPr wrap="none">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fld id="{9C5957C0-C9FD-924F-A662-3B71DAE40C56}" type="slidenum">
              <a:rPr kumimoji="0" lang="uk-UA" sz="1200" b="0" i="0" u="none" strike="noStrike" kern="1200" cap="none" spc="0" normalizeH="0" baseline="0" noProof="0" smtClean="0">
                <a:ln>
                  <a:noFill/>
                </a:ln>
                <a:solidFill>
                  <a:schemeClr val="bg1"/>
                </a:solidFill>
                <a:effectLst/>
                <a:uLnTx/>
                <a:uFillTx/>
                <a:latin typeface="Calibri Light"/>
                <a:cs typeface="Calibri Light"/>
              </a:rPr>
              <a:pPr marL="0" marR="0" lvl="0" indent="0" algn="ctr" defTabSz="457200" rtl="0" eaLnBrk="1" fontAlgn="base" latinLnBrk="0" hangingPunct="1">
                <a:lnSpc>
                  <a:spcPct val="100000"/>
                </a:lnSpc>
                <a:spcBef>
                  <a:spcPct val="0"/>
                </a:spcBef>
                <a:spcAft>
                  <a:spcPct val="0"/>
                </a:spcAft>
                <a:buClrTx/>
                <a:buSzTx/>
                <a:buFontTx/>
                <a:buNone/>
                <a:tabLst/>
                <a:defRPr/>
              </a:pPr>
              <a:t>‹#›</a:t>
            </a:fld>
            <a:endParaRPr kumimoji="0" lang="uk-UA" sz="1000" b="0" i="0" u="none" strike="noStrike" kern="1200" cap="none" spc="0" normalizeH="0" baseline="0" noProof="0" dirty="0">
              <a:ln>
                <a:noFill/>
              </a:ln>
              <a:solidFill>
                <a:schemeClr val="bg1"/>
              </a:solidFill>
              <a:effectLst/>
              <a:uLnTx/>
              <a:uFillTx/>
              <a:latin typeface="Calibri Light"/>
              <a:cs typeface="Calibri Light"/>
            </a:endParaRPr>
          </a:p>
        </p:txBody>
      </p:sp>
      <p:pic>
        <p:nvPicPr>
          <p:cNvPr id="9" name="Picture 4" descr="C:\Users\10630824\Desktop\Microot template\corners (2).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flipH="1">
            <a:off x="-25392" y="-30236"/>
            <a:ext cx="688705" cy="69979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userDrawn="1"/>
        </p:nvSpPr>
        <p:spPr>
          <a:xfrm>
            <a:off x="3086252" y="4849624"/>
            <a:ext cx="2959099" cy="215444"/>
          </a:xfrm>
          <a:prstGeom prst="rect">
            <a:avLst/>
          </a:prstGeom>
          <a:noFill/>
        </p:spPr>
        <p:txBody>
          <a:bodyPr wrap="square" rtlCol="0">
            <a:spAutoFit/>
          </a:bodyPr>
          <a:lstStyle/>
          <a:p>
            <a:pPr algn="ctr"/>
            <a:r>
              <a:rPr lang="en-US" sz="800" dirty="0">
                <a:solidFill>
                  <a:srgbClr val="7C7C7C"/>
                </a:solidFill>
                <a:latin typeface="Calibri Light"/>
                <a:cs typeface="Calibri Light"/>
              </a:rPr>
              <a:t>©Larsen &amp; Toubro Infotech Ltd. Privileged and Confidential</a:t>
            </a:r>
          </a:p>
        </p:txBody>
      </p:sp>
    </p:spTree>
    <p:extLst>
      <p:ext uri="{BB962C8B-B14F-4D97-AF65-F5344CB8AC3E}">
        <p14:creationId xmlns:p14="http://schemas.microsoft.com/office/powerpoint/2010/main" val="17816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rgbClr val="F2F2F2"/>
        </a:solidFill>
        <a:effectLst/>
      </p:bgPr>
    </p:bg>
    <p:spTree>
      <p:nvGrpSpPr>
        <p:cNvPr id="1" name=""/>
        <p:cNvGrpSpPr/>
        <p:nvPr/>
      </p:nvGrpSpPr>
      <p:grpSpPr>
        <a:xfrm>
          <a:off x="0" y="0"/>
          <a:ext cx="0" cy="0"/>
          <a:chOff x="0" y="0"/>
          <a:chExt cx="0" cy="0"/>
        </a:xfrm>
      </p:grpSpPr>
      <p:pic>
        <p:nvPicPr>
          <p:cNvPr id="2062" name="Picture 14" descr="C:\Users\10630824\Desktop\Microot template\poly.em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332" y="456328"/>
            <a:ext cx="9153331" cy="467040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83"/>
          <p:cNvSpPr>
            <a:spLocks noGrp="1" noChangeArrowheads="1"/>
          </p:cNvSpPr>
          <p:nvPr>
            <p:ph type="ctrTitle" hasCustomPrompt="1"/>
          </p:nvPr>
        </p:nvSpPr>
        <p:spPr>
          <a:xfrm>
            <a:off x="1348105" y="2269550"/>
            <a:ext cx="5561624" cy="430887"/>
          </a:xfrm>
          <a:noFill/>
          <a:ln w="9525">
            <a:noFill/>
            <a:miter lim="800000"/>
            <a:headEnd/>
            <a:tailEnd/>
          </a:ln>
          <a:extLst/>
        </p:spPr>
        <p:txBody>
          <a:bodyPr anchor="t"/>
          <a:lstStyle>
            <a:lvl1pPr>
              <a:defRPr sz="2700" b="0" i="0">
                <a:solidFill>
                  <a:srgbClr val="2C2D8B"/>
                </a:solidFill>
                <a:latin typeface="Calibri Light"/>
                <a:cs typeface="Calibri Light"/>
              </a:defRPr>
            </a:lvl1pPr>
          </a:lstStyle>
          <a:p>
            <a:pPr lvl="0"/>
            <a:r>
              <a:rPr lang="en-US" noProof="0" dirty="0"/>
              <a:t>Click to Edit Master Title Style</a:t>
            </a:r>
          </a:p>
        </p:txBody>
      </p:sp>
    </p:spTree>
    <p:extLst>
      <p:ext uri="{BB962C8B-B14F-4D97-AF65-F5344CB8AC3E}">
        <p14:creationId xmlns:p14="http://schemas.microsoft.com/office/powerpoint/2010/main" val="2071532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0"/>
            </a:lvl1pPr>
          </a:lstStyle>
          <a:p>
            <a:r>
              <a:rPr lang="en-US" dirty="0"/>
              <a:t>Click to Edit Master Title Style</a:t>
            </a:r>
          </a:p>
        </p:txBody>
      </p:sp>
      <p:pic>
        <p:nvPicPr>
          <p:cNvPr id="5" name="Picture 3" descr="C:\Users\10630824\Desktop\Microot template\corners (3).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56377" y="3907747"/>
            <a:ext cx="1430176" cy="16491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userDrawn="1"/>
        </p:nvSpPr>
        <p:spPr>
          <a:xfrm>
            <a:off x="8483655" y="4824116"/>
            <a:ext cx="396263" cy="307777"/>
          </a:xfrm>
          <a:prstGeom prst="rect">
            <a:avLst/>
          </a:prstGeom>
        </p:spPr>
        <p:txBody>
          <a:bodyPr wrap="none">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fld id="{9C5957C0-C9FD-924F-A662-3B71DAE40C56}" type="slidenum">
              <a:rPr kumimoji="0" lang="uk-UA" sz="1400" b="0" i="0" u="none" strike="noStrike" kern="1200" cap="none" spc="0" normalizeH="0" baseline="0" noProof="0" smtClean="0">
                <a:ln>
                  <a:noFill/>
                </a:ln>
                <a:solidFill>
                  <a:schemeClr val="bg1"/>
                </a:solidFill>
                <a:effectLst/>
                <a:uLnTx/>
                <a:uFillTx/>
                <a:latin typeface="Calibri Light"/>
                <a:cs typeface="Calibri Light"/>
              </a:rPr>
              <a:pPr marL="0" marR="0" lvl="0" indent="0" algn="ctr" defTabSz="457200" rtl="0" eaLnBrk="1" fontAlgn="base" latinLnBrk="0" hangingPunct="1">
                <a:lnSpc>
                  <a:spcPct val="100000"/>
                </a:lnSpc>
                <a:spcBef>
                  <a:spcPct val="0"/>
                </a:spcBef>
                <a:spcAft>
                  <a:spcPct val="0"/>
                </a:spcAft>
                <a:buClrTx/>
                <a:buSzTx/>
                <a:buFontTx/>
                <a:buNone/>
                <a:tabLst/>
                <a:defRPr/>
              </a:pPr>
              <a:t>‹#›</a:t>
            </a:fld>
            <a:endParaRPr kumimoji="0" lang="uk-UA" sz="1050" b="0" i="0" u="none" strike="noStrike" kern="1200" cap="none" spc="0" normalizeH="0" baseline="0" noProof="0" dirty="0">
              <a:ln>
                <a:noFill/>
              </a:ln>
              <a:solidFill>
                <a:schemeClr val="bg1"/>
              </a:solidFill>
              <a:effectLst/>
              <a:uLnTx/>
              <a:uFillTx/>
              <a:latin typeface="Calibri Light"/>
              <a:cs typeface="Calibri Light"/>
            </a:endParaRPr>
          </a:p>
        </p:txBody>
      </p:sp>
      <p:pic>
        <p:nvPicPr>
          <p:cNvPr id="7" name="Picture 4" descr="C:\Users\10630824\Desktop\Microot template\corners (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flipH="1">
            <a:off x="-25392" y="-30236"/>
            <a:ext cx="688705" cy="6997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userDrawn="1"/>
        </p:nvSpPr>
        <p:spPr>
          <a:xfrm>
            <a:off x="3086252" y="4849624"/>
            <a:ext cx="2959099" cy="215444"/>
          </a:xfrm>
          <a:prstGeom prst="rect">
            <a:avLst/>
          </a:prstGeom>
          <a:noFill/>
        </p:spPr>
        <p:txBody>
          <a:bodyPr wrap="square" rtlCol="0">
            <a:spAutoFit/>
          </a:bodyPr>
          <a:lstStyle/>
          <a:p>
            <a:pPr algn="ctr"/>
            <a:r>
              <a:rPr lang="en-US" sz="800" dirty="0">
                <a:solidFill>
                  <a:srgbClr val="7C7C7C"/>
                </a:solidFill>
                <a:latin typeface="Calibri Light"/>
                <a:cs typeface="Calibri Light"/>
              </a:rPr>
              <a:t>©Larsen &amp; Toubro Infotech Ltd. Privileged and Confidential</a:t>
            </a:r>
          </a:p>
        </p:txBody>
      </p:sp>
      <p:pic>
        <p:nvPicPr>
          <p:cNvPr id="9" name="Picture 2" descr="C:\Users\10630824\Desktop\Microot template\LTI logo (2).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4604" y="4755049"/>
            <a:ext cx="426695" cy="249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343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4637"/>
          </a:xfrm>
          <a:prstGeom prst="rect">
            <a:avLst/>
          </a:prstGeom>
        </p:spPr>
        <p:txBody>
          <a:bodyPr/>
          <a:lstStyle/>
          <a:p>
            <a:fld id="{14E39C5E-3938-484F-9F2C-43A53F2F2C23}" type="datetimeFigureOut">
              <a:rPr lang="en-US" smtClean="0"/>
              <a:t>12/13/2017</a:t>
            </a:fld>
            <a:endParaRPr lang="en-US" dirty="0"/>
          </a:p>
        </p:txBody>
      </p:sp>
      <p:sp>
        <p:nvSpPr>
          <p:cNvPr id="3" name="Footer Placeholder 2"/>
          <p:cNvSpPr>
            <a:spLocks noGrp="1"/>
          </p:cNvSpPr>
          <p:nvPr>
            <p:ph type="ftr" sz="quarter" idx="11"/>
          </p:nvPr>
        </p:nvSpPr>
        <p:spPr>
          <a:xfrm>
            <a:off x="3028950" y="4767263"/>
            <a:ext cx="3086100" cy="274637"/>
          </a:xfrm>
          <a:prstGeom prst="rect">
            <a:avLst/>
          </a:prstGeom>
        </p:spPr>
        <p:txBody>
          <a:bodyPr/>
          <a:lstStyle/>
          <a:p>
            <a:endParaRPr lang="en-US" dirty="0"/>
          </a:p>
        </p:txBody>
      </p:sp>
      <p:sp>
        <p:nvSpPr>
          <p:cNvPr id="4" name="Slide Number Placeholder 3"/>
          <p:cNvSpPr>
            <a:spLocks noGrp="1"/>
          </p:cNvSpPr>
          <p:nvPr>
            <p:ph type="sldNum" sz="quarter" idx="12"/>
          </p:nvPr>
        </p:nvSpPr>
        <p:spPr>
          <a:xfrm>
            <a:off x="6457950" y="4767263"/>
            <a:ext cx="2057400" cy="274637"/>
          </a:xfrm>
          <a:prstGeom prst="rect">
            <a:avLst/>
          </a:prstGeom>
        </p:spPr>
        <p:txBody>
          <a:bodyPr/>
          <a:lstStyle/>
          <a:p>
            <a:fld id="{2F87D1DA-C60F-764E-8590-C8E0B173BBAB}" type="slidenum">
              <a:rPr lang="en-US" smtClean="0"/>
              <a:t>‹#›</a:t>
            </a:fld>
            <a:endParaRPr lang="en-US" dirty="0"/>
          </a:p>
        </p:txBody>
      </p:sp>
    </p:spTree>
    <p:extLst>
      <p:ext uri="{BB962C8B-B14F-4D97-AF65-F5344CB8AC3E}">
        <p14:creationId xmlns:p14="http://schemas.microsoft.com/office/powerpoint/2010/main" val="1033562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1026" name="Rectangle 84"/>
          <p:cNvSpPr>
            <a:spLocks noGrp="1" noChangeArrowheads="1"/>
          </p:cNvSpPr>
          <p:nvPr>
            <p:ph type="body" idx="1"/>
          </p:nvPr>
        </p:nvSpPr>
        <p:spPr bwMode="gray">
          <a:xfrm>
            <a:off x="258189" y="731070"/>
            <a:ext cx="8615227" cy="3934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p:txBody>
      </p:sp>
      <p:sp>
        <p:nvSpPr>
          <p:cNvPr id="1029" name="Rectangle 83"/>
          <p:cNvSpPr>
            <a:spLocks noGrp="1" noChangeArrowheads="1"/>
          </p:cNvSpPr>
          <p:nvPr>
            <p:ph type="title"/>
          </p:nvPr>
        </p:nvSpPr>
        <p:spPr bwMode="gray">
          <a:xfrm>
            <a:off x="269878" y="240427"/>
            <a:ext cx="8594260" cy="384721"/>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Title</a:t>
            </a:r>
          </a:p>
        </p:txBody>
      </p:sp>
      <p:sp>
        <p:nvSpPr>
          <p:cNvPr id="15" name="TextBox 14"/>
          <p:cNvSpPr txBox="1"/>
          <p:nvPr userDrawn="1"/>
        </p:nvSpPr>
        <p:spPr>
          <a:xfrm>
            <a:off x="3086252" y="4849624"/>
            <a:ext cx="2959099" cy="215444"/>
          </a:xfrm>
          <a:prstGeom prst="rect">
            <a:avLst/>
          </a:prstGeom>
          <a:noFill/>
        </p:spPr>
        <p:txBody>
          <a:bodyPr wrap="square" rtlCol="0">
            <a:spAutoFit/>
          </a:bodyPr>
          <a:lstStyle/>
          <a:p>
            <a:pPr algn="ctr"/>
            <a:r>
              <a:rPr lang="en-US" sz="800" dirty="0">
                <a:solidFill>
                  <a:srgbClr val="7C7C7C"/>
                </a:solidFill>
                <a:latin typeface="Calibri Light"/>
                <a:cs typeface="Calibri Light"/>
              </a:rPr>
              <a:t>©Larsen &amp; Toubro Infotech Ltd. Privileged and Confidential</a:t>
            </a:r>
          </a:p>
        </p:txBody>
      </p:sp>
      <p:pic>
        <p:nvPicPr>
          <p:cNvPr id="2" name="Picture 2" descr="C:\Users\10630824\Desktop\Microot template\LTI logo (2).png"/>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14604" y="4755049"/>
            <a:ext cx="426695" cy="24928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10630824\Desktop\Microot template\corners (3).png"/>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7856377" y="3907747"/>
            <a:ext cx="1430176" cy="164916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8483655" y="4824116"/>
            <a:ext cx="396263" cy="307777"/>
          </a:xfrm>
          <a:prstGeom prst="rect">
            <a:avLst/>
          </a:prstGeom>
        </p:spPr>
        <p:txBody>
          <a:bodyPr wrap="none">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fld id="{9C5957C0-C9FD-924F-A662-3B71DAE40C56}" type="slidenum">
              <a:rPr kumimoji="0" lang="uk-UA" sz="1400" b="0" i="0" u="none" strike="noStrike" kern="1200" cap="none" spc="0" normalizeH="0" baseline="0" noProof="0" smtClean="0">
                <a:ln>
                  <a:noFill/>
                </a:ln>
                <a:solidFill>
                  <a:schemeClr val="bg1"/>
                </a:solidFill>
                <a:effectLst/>
                <a:uLnTx/>
                <a:uFillTx/>
                <a:latin typeface="Calibri Light" charset="0"/>
                <a:ea typeface="Calibri Light" charset="0"/>
                <a:cs typeface="Calibri Light" charset="0"/>
              </a:rPr>
              <a:pPr marL="0" marR="0" lvl="0" indent="0" algn="ctr" defTabSz="457200" rtl="0" eaLnBrk="1" fontAlgn="base" latinLnBrk="0" hangingPunct="1">
                <a:lnSpc>
                  <a:spcPct val="100000"/>
                </a:lnSpc>
                <a:spcBef>
                  <a:spcPct val="0"/>
                </a:spcBef>
                <a:spcAft>
                  <a:spcPct val="0"/>
                </a:spcAft>
                <a:buClrTx/>
                <a:buSzTx/>
                <a:buFontTx/>
                <a:buNone/>
                <a:tabLst/>
                <a:defRPr/>
              </a:pPr>
              <a:t>‹#›</a:t>
            </a:fld>
            <a:endParaRPr kumimoji="0" lang="uk-UA" sz="1000" b="0" i="0" u="none" strike="noStrike" kern="1200" cap="none" spc="0" normalizeH="0" baseline="0" noProof="0" dirty="0">
              <a:ln>
                <a:noFill/>
              </a:ln>
              <a:solidFill>
                <a:schemeClr val="bg1"/>
              </a:solidFill>
              <a:effectLst/>
              <a:uLnTx/>
              <a:uFillTx/>
              <a:latin typeface="Calibri Light" charset="0"/>
              <a:ea typeface="Calibri Light" charset="0"/>
              <a:cs typeface="Calibri Light" charset="0"/>
            </a:endParaRPr>
          </a:p>
        </p:txBody>
      </p:sp>
      <p:pic>
        <p:nvPicPr>
          <p:cNvPr id="1028" name="Picture 4" descr="C:\Users\10630824\Desktop\Microot template\corners (2).png"/>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flipH="1">
            <a:off x="-18304" y="-37324"/>
            <a:ext cx="688705" cy="69979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80" r:id="rId4"/>
    <p:sldLayoutId id="2147483665" r:id="rId5"/>
  </p:sldLayoutIdLst>
  <p:hf hdr="0" ftr="0" dt="0"/>
  <p:txStyles>
    <p:titleStyle>
      <a:lvl1pPr algn="l" rtl="0" eaLnBrk="1" fontAlgn="base" hangingPunct="1">
        <a:spcBef>
          <a:spcPct val="0"/>
        </a:spcBef>
        <a:spcAft>
          <a:spcPct val="0"/>
        </a:spcAft>
        <a:defRPr sz="2500" b="0" i="0" baseline="0">
          <a:solidFill>
            <a:srgbClr val="2C2D8B"/>
          </a:solidFill>
          <a:latin typeface="Calibri Light"/>
          <a:ea typeface="+mj-ea"/>
          <a:cs typeface="Calibri Light"/>
        </a:defRPr>
      </a:lvl1pPr>
      <a:lvl2pPr algn="l" rtl="0" eaLnBrk="1" fontAlgn="base" hangingPunct="1">
        <a:spcBef>
          <a:spcPct val="0"/>
        </a:spcBef>
        <a:spcAft>
          <a:spcPct val="0"/>
        </a:spcAft>
        <a:defRPr sz="2000">
          <a:solidFill>
            <a:schemeClr val="accent1"/>
          </a:solidFill>
          <a:latin typeface="Arial" pitchFamily="34" charset="0"/>
          <a:ea typeface="STKaiti" pitchFamily="2" charset="-122"/>
          <a:cs typeface="Geneva" pitchFamily="34" charset="0"/>
        </a:defRPr>
      </a:lvl2pPr>
      <a:lvl3pPr algn="l" rtl="0" eaLnBrk="1" fontAlgn="base" hangingPunct="1">
        <a:spcBef>
          <a:spcPct val="0"/>
        </a:spcBef>
        <a:spcAft>
          <a:spcPct val="0"/>
        </a:spcAft>
        <a:defRPr sz="2000">
          <a:solidFill>
            <a:schemeClr val="accent1"/>
          </a:solidFill>
          <a:latin typeface="Arial" pitchFamily="34" charset="0"/>
          <a:ea typeface="STKaiti" pitchFamily="2" charset="-122"/>
          <a:cs typeface="Geneva" pitchFamily="34" charset="0"/>
        </a:defRPr>
      </a:lvl3pPr>
      <a:lvl4pPr algn="l" rtl="0" eaLnBrk="1" fontAlgn="base" hangingPunct="1">
        <a:spcBef>
          <a:spcPct val="0"/>
        </a:spcBef>
        <a:spcAft>
          <a:spcPct val="0"/>
        </a:spcAft>
        <a:defRPr sz="2000">
          <a:solidFill>
            <a:schemeClr val="accent1"/>
          </a:solidFill>
          <a:latin typeface="Arial" pitchFamily="34" charset="0"/>
          <a:ea typeface="STKaiti" pitchFamily="2" charset="-122"/>
          <a:cs typeface="Geneva" pitchFamily="34" charset="0"/>
        </a:defRPr>
      </a:lvl4pPr>
      <a:lvl5pPr algn="l" rtl="0" eaLnBrk="1" fontAlgn="base" hangingPunct="1">
        <a:spcBef>
          <a:spcPct val="0"/>
        </a:spcBef>
        <a:spcAft>
          <a:spcPct val="0"/>
        </a:spcAft>
        <a:defRPr sz="2000">
          <a:solidFill>
            <a:schemeClr val="accent1"/>
          </a:solidFill>
          <a:latin typeface="Arial" pitchFamily="34" charset="0"/>
          <a:ea typeface="STKaiti" pitchFamily="2" charset="-122"/>
          <a:cs typeface="Geneva" pitchFamily="34" charset="0"/>
        </a:defRPr>
      </a:lvl5pPr>
      <a:lvl6pPr marL="389626" algn="l" rtl="0" eaLnBrk="1" fontAlgn="base" hangingPunct="1">
        <a:spcBef>
          <a:spcPct val="0"/>
        </a:spcBef>
        <a:spcAft>
          <a:spcPct val="0"/>
        </a:spcAft>
        <a:defRPr sz="2000">
          <a:solidFill>
            <a:schemeClr val="accent1"/>
          </a:solidFill>
          <a:latin typeface="Arial" pitchFamily="34" charset="0"/>
          <a:ea typeface="ヒラギノ角ゴ Pro W3" pitchFamily="124" charset="-128"/>
          <a:cs typeface="Geneva" pitchFamily="34" charset="0"/>
        </a:defRPr>
      </a:lvl6pPr>
      <a:lvl7pPr marL="779252" algn="l" rtl="0" eaLnBrk="1" fontAlgn="base" hangingPunct="1">
        <a:spcBef>
          <a:spcPct val="0"/>
        </a:spcBef>
        <a:spcAft>
          <a:spcPct val="0"/>
        </a:spcAft>
        <a:defRPr sz="2000">
          <a:solidFill>
            <a:schemeClr val="accent1"/>
          </a:solidFill>
          <a:latin typeface="Arial" pitchFamily="34" charset="0"/>
          <a:ea typeface="ヒラギノ角ゴ Pro W3" pitchFamily="124" charset="-128"/>
          <a:cs typeface="Geneva" pitchFamily="34" charset="0"/>
        </a:defRPr>
      </a:lvl7pPr>
      <a:lvl8pPr marL="1168878" algn="l" rtl="0" eaLnBrk="1" fontAlgn="base" hangingPunct="1">
        <a:spcBef>
          <a:spcPct val="0"/>
        </a:spcBef>
        <a:spcAft>
          <a:spcPct val="0"/>
        </a:spcAft>
        <a:defRPr sz="2000">
          <a:solidFill>
            <a:schemeClr val="accent1"/>
          </a:solidFill>
          <a:latin typeface="Arial" pitchFamily="34" charset="0"/>
          <a:ea typeface="ヒラギノ角ゴ Pro W3" pitchFamily="124" charset="-128"/>
          <a:cs typeface="Geneva" pitchFamily="34" charset="0"/>
        </a:defRPr>
      </a:lvl8pPr>
      <a:lvl9pPr marL="1558503" algn="l" rtl="0" eaLnBrk="1" fontAlgn="base" hangingPunct="1">
        <a:spcBef>
          <a:spcPct val="0"/>
        </a:spcBef>
        <a:spcAft>
          <a:spcPct val="0"/>
        </a:spcAft>
        <a:defRPr sz="2000">
          <a:solidFill>
            <a:schemeClr val="accent1"/>
          </a:solidFill>
          <a:latin typeface="Arial" pitchFamily="34" charset="0"/>
          <a:ea typeface="ヒラギノ角ゴ Pro W3" pitchFamily="124" charset="-128"/>
          <a:cs typeface="Geneva" pitchFamily="34" charset="0"/>
        </a:defRPr>
      </a:lvl9pPr>
    </p:titleStyle>
    <p:bodyStyle>
      <a:lvl1pPr marL="146110" indent="-146110" algn="l" defTabSz="1566621" rtl="0" eaLnBrk="1" fontAlgn="base" hangingPunct="1">
        <a:spcBef>
          <a:spcPct val="75000"/>
        </a:spcBef>
        <a:spcAft>
          <a:spcPct val="0"/>
        </a:spcAft>
        <a:buClrTx/>
        <a:buFont typeface="Wingdings" charset="2"/>
        <a:buChar char="§"/>
        <a:defRPr sz="1600" b="0" i="0">
          <a:solidFill>
            <a:srgbClr val="000000"/>
          </a:solidFill>
          <a:latin typeface="Calibri Light"/>
          <a:ea typeface="+mn-ea"/>
          <a:cs typeface="Calibri Light"/>
        </a:defRPr>
      </a:lvl1pPr>
      <a:lvl2pPr marL="293573" indent="-146110" algn="l" defTabSz="1566621" rtl="0" eaLnBrk="1" fontAlgn="base" hangingPunct="1">
        <a:spcBef>
          <a:spcPct val="25000"/>
        </a:spcBef>
        <a:spcAft>
          <a:spcPct val="0"/>
        </a:spcAft>
        <a:buClrTx/>
        <a:buSzPct val="80000"/>
        <a:buFont typeface="Wingdings" charset="2"/>
        <a:buChar char="§"/>
        <a:defRPr sz="1600" b="0" i="0">
          <a:solidFill>
            <a:srgbClr val="000000"/>
          </a:solidFill>
          <a:latin typeface="Calibri Light"/>
          <a:ea typeface="+mn-ea"/>
          <a:cs typeface="Calibri Light"/>
        </a:defRPr>
      </a:lvl2pPr>
      <a:lvl3pPr marL="441035" indent="-146110" algn="l" defTabSz="1566621" rtl="0" eaLnBrk="1" fontAlgn="base" hangingPunct="1">
        <a:spcBef>
          <a:spcPct val="25000"/>
        </a:spcBef>
        <a:spcAft>
          <a:spcPct val="0"/>
        </a:spcAft>
        <a:buClrTx/>
        <a:buSzPct val="70000"/>
        <a:buFont typeface="Wingdings" charset="2"/>
        <a:buChar char="§"/>
        <a:defRPr sz="1600" b="0" i="0">
          <a:solidFill>
            <a:srgbClr val="000000"/>
          </a:solidFill>
          <a:latin typeface="Calibri Light"/>
          <a:ea typeface="+mn-ea"/>
          <a:cs typeface="Calibri Light"/>
        </a:defRPr>
      </a:lvl3pPr>
      <a:lvl4pPr marL="584439" indent="-142052" algn="l" defTabSz="1566621" rtl="0" eaLnBrk="1" fontAlgn="base" hangingPunct="1">
        <a:spcBef>
          <a:spcPct val="25000"/>
        </a:spcBef>
        <a:spcAft>
          <a:spcPct val="0"/>
        </a:spcAft>
        <a:buClrTx/>
        <a:buFont typeface="Arial"/>
        <a:buChar char="•"/>
        <a:defRPr sz="1600" b="0" i="0">
          <a:solidFill>
            <a:srgbClr val="000000"/>
          </a:solidFill>
          <a:latin typeface="Calibri Light"/>
          <a:ea typeface="+mn-ea"/>
          <a:cs typeface="Calibri Light"/>
        </a:defRPr>
      </a:lvl4pPr>
      <a:lvl5pPr marL="726490" indent="-140698" algn="l" defTabSz="1566621" rtl="0" eaLnBrk="1" fontAlgn="base" hangingPunct="1">
        <a:spcBef>
          <a:spcPct val="25000"/>
        </a:spcBef>
        <a:spcAft>
          <a:spcPct val="0"/>
        </a:spcAft>
        <a:buClrTx/>
        <a:buFont typeface="Arial"/>
        <a:buChar char="•"/>
        <a:defRPr sz="1600" b="0" i="0">
          <a:solidFill>
            <a:srgbClr val="000000"/>
          </a:solidFill>
          <a:latin typeface="Calibri Light"/>
          <a:ea typeface="+mn-ea"/>
          <a:cs typeface="Calibri Light"/>
        </a:defRPr>
      </a:lvl5pPr>
      <a:lvl6pPr marL="1116116" indent="-140698" algn="l" defTabSz="1566621" rtl="0" eaLnBrk="1" fontAlgn="base" hangingPunct="1">
        <a:spcBef>
          <a:spcPct val="25000"/>
        </a:spcBef>
        <a:spcAft>
          <a:spcPct val="0"/>
        </a:spcAft>
        <a:buClr>
          <a:schemeClr val="tx2"/>
        </a:buClr>
        <a:buFont typeface="Symbol" pitchFamily="18" charset="2"/>
        <a:buChar char="·"/>
        <a:defRPr sz="1200">
          <a:solidFill>
            <a:srgbClr val="53565A"/>
          </a:solidFill>
          <a:latin typeface="+mn-lt"/>
          <a:ea typeface="+mn-ea"/>
          <a:cs typeface="+mn-cs"/>
        </a:defRPr>
      </a:lvl6pPr>
      <a:lvl7pPr marL="1505742" indent="-140698" algn="l" defTabSz="1566621" rtl="0" eaLnBrk="1" fontAlgn="base" hangingPunct="1">
        <a:spcBef>
          <a:spcPct val="25000"/>
        </a:spcBef>
        <a:spcAft>
          <a:spcPct val="0"/>
        </a:spcAft>
        <a:buClr>
          <a:schemeClr val="tx2"/>
        </a:buClr>
        <a:buFont typeface="Symbol" pitchFamily="18" charset="2"/>
        <a:buChar char="·"/>
        <a:defRPr sz="1200">
          <a:solidFill>
            <a:srgbClr val="53565A"/>
          </a:solidFill>
          <a:latin typeface="+mn-lt"/>
          <a:ea typeface="+mn-ea"/>
          <a:cs typeface="+mn-cs"/>
        </a:defRPr>
      </a:lvl7pPr>
      <a:lvl8pPr marL="1895368" indent="-140698" algn="l" defTabSz="1566621" rtl="0" eaLnBrk="1" fontAlgn="base" hangingPunct="1">
        <a:spcBef>
          <a:spcPct val="25000"/>
        </a:spcBef>
        <a:spcAft>
          <a:spcPct val="0"/>
        </a:spcAft>
        <a:buClr>
          <a:schemeClr val="tx2"/>
        </a:buClr>
        <a:buFont typeface="Symbol" pitchFamily="18" charset="2"/>
        <a:buChar char="·"/>
        <a:defRPr sz="1200">
          <a:solidFill>
            <a:srgbClr val="53565A"/>
          </a:solidFill>
          <a:latin typeface="+mn-lt"/>
          <a:ea typeface="+mn-ea"/>
          <a:cs typeface="+mn-cs"/>
        </a:defRPr>
      </a:lvl8pPr>
      <a:lvl9pPr marL="2284994" indent="-140698" algn="l" defTabSz="1566621" rtl="0" eaLnBrk="1" fontAlgn="base" hangingPunct="1">
        <a:spcBef>
          <a:spcPct val="25000"/>
        </a:spcBef>
        <a:spcAft>
          <a:spcPct val="0"/>
        </a:spcAft>
        <a:buClr>
          <a:schemeClr val="tx2"/>
        </a:buClr>
        <a:buFont typeface="Symbol" pitchFamily="18" charset="2"/>
        <a:buChar char="·"/>
        <a:defRPr sz="1200">
          <a:solidFill>
            <a:srgbClr val="53565A"/>
          </a:solidFill>
          <a:latin typeface="+mn-lt"/>
          <a:ea typeface="+mn-ea"/>
          <a:cs typeface="+mn-cs"/>
        </a:defRPr>
      </a:lvl9pPr>
    </p:bodyStyle>
    <p:otherStyle>
      <a:defPPr>
        <a:defRPr lang="en-US"/>
      </a:defPPr>
      <a:lvl1pPr marL="0" algn="l" defTabSz="779252" rtl="0" eaLnBrk="1" latinLnBrk="0" hangingPunct="1">
        <a:defRPr sz="1500" kern="1200">
          <a:solidFill>
            <a:schemeClr val="tx1"/>
          </a:solidFill>
          <a:latin typeface="+mn-lt"/>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78045" y="1639923"/>
            <a:ext cx="2031269" cy="1849679"/>
          </a:xfrm>
          <a:prstGeom prst="rect">
            <a:avLst/>
          </a:prstGeom>
        </p:spPr>
      </p:pic>
    </p:spTree>
    <p:extLst>
      <p:ext uri="{BB962C8B-B14F-4D97-AF65-F5344CB8AC3E}">
        <p14:creationId xmlns:p14="http://schemas.microsoft.com/office/powerpoint/2010/main" val="1443436294"/>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348105" y="2269550"/>
            <a:ext cx="5561624" cy="830997"/>
          </a:xfrm>
        </p:spPr>
        <p:txBody>
          <a:bodyPr/>
          <a:lstStyle/>
          <a:p>
            <a:pPr algn="ctr"/>
            <a:r>
              <a:rPr lang="en-US" dirty="0"/>
              <a:t>Introduction </a:t>
            </a:r>
            <a:r>
              <a:rPr lang="en-US" dirty="0" smtClean="0"/>
              <a:t>to</a:t>
            </a:r>
            <a:br>
              <a:rPr lang="en-US" dirty="0" smtClean="0"/>
            </a:br>
            <a:r>
              <a:rPr lang="en-US" b="1" u="sng" dirty="0" smtClean="0"/>
              <a:t>“Treasury &amp; Trade Solutions”</a:t>
            </a:r>
            <a:endParaRPr lang="en-US" b="1" u="sng" dirty="0"/>
          </a:p>
        </p:txBody>
      </p:sp>
      <p:sp>
        <p:nvSpPr>
          <p:cNvPr id="5" name="Subtitle 4"/>
          <p:cNvSpPr>
            <a:spLocks noGrp="1"/>
          </p:cNvSpPr>
          <p:nvPr>
            <p:ph type="subTitle" idx="1"/>
          </p:nvPr>
        </p:nvSpPr>
        <p:spPr/>
        <p:txBody>
          <a:bodyPr/>
          <a:lstStyle/>
          <a:p>
            <a:r>
              <a:rPr lang="en-US" dirty="0" smtClean="0"/>
              <a:t>Dec 2017</a:t>
            </a:r>
            <a:endParaRPr lang="en-US" dirty="0"/>
          </a:p>
        </p:txBody>
      </p:sp>
    </p:spTree>
    <p:extLst>
      <p:ext uri="{BB962C8B-B14F-4D97-AF65-F5344CB8AC3E}">
        <p14:creationId xmlns:p14="http://schemas.microsoft.com/office/powerpoint/2010/main" val="17365007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Introduction to </a:t>
            </a:r>
            <a:r>
              <a:rPr lang="en-US" dirty="0" smtClean="0"/>
              <a:t>banking services </a:t>
            </a:r>
            <a:r>
              <a:rPr lang="en-US" dirty="0" smtClean="0"/>
              <a:t>provided by </a:t>
            </a:r>
            <a:r>
              <a:rPr lang="en-US" dirty="0" smtClean="0"/>
              <a:t>Citi</a:t>
            </a:r>
            <a:endParaRPr lang="en-US" dirty="0" smtClean="0"/>
          </a:p>
          <a:p>
            <a:r>
              <a:rPr lang="en-US" dirty="0" smtClean="0"/>
              <a:t>What is Treasury function of a business?</a:t>
            </a:r>
          </a:p>
          <a:p>
            <a:r>
              <a:rPr lang="en-US" dirty="0" smtClean="0"/>
              <a:t>How does CITI-TTS helps Treasury of a business?</a:t>
            </a:r>
          </a:p>
          <a:p>
            <a:r>
              <a:rPr lang="en-US" dirty="0" smtClean="0"/>
              <a:t>Major services provided by TTS</a:t>
            </a:r>
          </a:p>
          <a:p>
            <a:r>
              <a:rPr lang="en-US" dirty="0" smtClean="0"/>
              <a:t>Insights on liquidity management with TTS and GCE</a:t>
            </a:r>
          </a:p>
          <a:p>
            <a:endParaRPr lang="en-US" dirty="0" smtClean="0"/>
          </a:p>
          <a:p>
            <a:endParaRPr lang="en-US" dirty="0" smtClean="0"/>
          </a:p>
          <a:p>
            <a:endParaRPr lang="en-US" dirty="0" smtClean="0"/>
          </a:p>
          <a:p>
            <a:endParaRPr lang="en-US" dirty="0" smtClean="0"/>
          </a:p>
          <a:p>
            <a:endParaRPr lang="en-US" dirty="0"/>
          </a:p>
        </p:txBody>
      </p:sp>
      <p:sp>
        <p:nvSpPr>
          <p:cNvPr id="3" name="Title 2"/>
          <p:cNvSpPr>
            <a:spLocks noGrp="1"/>
          </p:cNvSpPr>
          <p:nvPr>
            <p:ph type="title"/>
          </p:nvPr>
        </p:nvSpPr>
        <p:spPr/>
        <p:txBody>
          <a:bodyPr/>
          <a:lstStyle/>
          <a:p>
            <a:r>
              <a:rPr lang="en-US" dirty="0" smtClean="0"/>
              <a:t>What’s Inside:</a:t>
            </a:r>
            <a:endParaRPr lang="en-US" dirty="0"/>
          </a:p>
        </p:txBody>
      </p:sp>
    </p:spTree>
    <p:extLst>
      <p:ext uri="{BB962C8B-B14F-4D97-AF65-F5344CB8AC3E}">
        <p14:creationId xmlns:p14="http://schemas.microsoft.com/office/powerpoint/2010/main" val="33085026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3075" y="83977"/>
            <a:ext cx="1482109" cy="1482109"/>
          </a:xfrm>
          <a:prstGeom prst="rect">
            <a:avLst/>
          </a:prstGeom>
        </p:spPr>
      </p:pic>
      <p:cxnSp>
        <p:nvCxnSpPr>
          <p:cNvPr id="8" name="Elbow Connector 7"/>
          <p:cNvCxnSpPr>
            <a:stCxn id="4" idx="1"/>
            <a:endCxn id="25" idx="0"/>
          </p:cNvCxnSpPr>
          <p:nvPr/>
        </p:nvCxnSpPr>
        <p:spPr bwMode="auto">
          <a:xfrm rot="10800000" flipV="1">
            <a:off x="1847463" y="825031"/>
            <a:ext cx="1755613" cy="912451"/>
          </a:xfrm>
          <a:prstGeom prst="bentConnector2">
            <a:avLst/>
          </a:prstGeom>
          <a:solidFill>
            <a:schemeClr val="folHlink"/>
          </a:solidFill>
          <a:ln w="38100" cap="flat" cmpd="sng" algn="ctr">
            <a:solidFill>
              <a:schemeClr val="tx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Elbow Connector 16"/>
          <p:cNvCxnSpPr>
            <a:stCxn id="4" idx="3"/>
            <a:endCxn id="30" idx="0"/>
          </p:cNvCxnSpPr>
          <p:nvPr/>
        </p:nvCxnSpPr>
        <p:spPr bwMode="auto">
          <a:xfrm>
            <a:off x="5085184" y="825032"/>
            <a:ext cx="1755613" cy="879836"/>
          </a:xfrm>
          <a:prstGeom prst="bentConnector2">
            <a:avLst/>
          </a:prstGeom>
          <a:solidFill>
            <a:schemeClr val="folHlink"/>
          </a:solidFill>
          <a:ln w="38100" cap="flat" cmpd="sng" algn="ctr">
            <a:solidFill>
              <a:schemeClr val="tx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Rounded Rectangle 24"/>
          <p:cNvSpPr/>
          <p:nvPr/>
        </p:nvSpPr>
        <p:spPr bwMode="auto">
          <a:xfrm>
            <a:off x="939158" y="1737483"/>
            <a:ext cx="1816608" cy="938784"/>
          </a:xfrm>
          <a:prstGeom prst="roundRect">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Arial" pitchFamily="34" charset="0"/>
              <a:ea typeface="+mj-ea"/>
            </a:endParaRPr>
          </a:p>
        </p:txBody>
      </p:sp>
      <p:sp>
        <p:nvSpPr>
          <p:cNvPr id="30" name="Rounded Rectangle 29"/>
          <p:cNvSpPr/>
          <p:nvPr/>
        </p:nvSpPr>
        <p:spPr bwMode="auto">
          <a:xfrm>
            <a:off x="5932493" y="1704868"/>
            <a:ext cx="1816608" cy="938784"/>
          </a:xfrm>
          <a:prstGeom prst="roundRect">
            <a:avLst/>
          </a:prstGeom>
          <a:ln>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ea typeface="+mj-ea"/>
            </a:endParaRPr>
          </a:p>
        </p:txBody>
      </p:sp>
      <p:sp>
        <p:nvSpPr>
          <p:cNvPr id="32" name="TextBox 31"/>
          <p:cNvSpPr txBox="1"/>
          <p:nvPr/>
        </p:nvSpPr>
        <p:spPr>
          <a:xfrm>
            <a:off x="908661" y="1914487"/>
            <a:ext cx="1816608" cy="584775"/>
          </a:xfrm>
          <a:prstGeom prst="rect">
            <a:avLst/>
          </a:prstGeom>
          <a:noFill/>
        </p:spPr>
        <p:txBody>
          <a:bodyPr wrap="square" rtlCol="0">
            <a:spAutoFit/>
          </a:bodyPr>
          <a:lstStyle/>
          <a:p>
            <a:r>
              <a:rPr lang="en-US" sz="1600" baseline="0" dirty="0" smtClean="0">
                <a:ea typeface="+mj-ea"/>
              </a:rPr>
              <a:t>Consumer Businesses</a:t>
            </a:r>
            <a:endParaRPr lang="en-US" sz="1600" baseline="0" dirty="0">
              <a:ea typeface="+mj-ea"/>
            </a:endParaRPr>
          </a:p>
        </p:txBody>
      </p:sp>
      <p:sp>
        <p:nvSpPr>
          <p:cNvPr id="33" name="TextBox 32"/>
          <p:cNvSpPr txBox="1"/>
          <p:nvPr/>
        </p:nvSpPr>
        <p:spPr>
          <a:xfrm>
            <a:off x="5901996" y="1881872"/>
            <a:ext cx="1816608" cy="584775"/>
          </a:xfrm>
          <a:prstGeom prst="rect">
            <a:avLst/>
          </a:prstGeom>
          <a:noFill/>
        </p:spPr>
        <p:txBody>
          <a:bodyPr wrap="square" rtlCol="0">
            <a:spAutoFit/>
          </a:bodyPr>
          <a:lstStyle/>
          <a:p>
            <a:r>
              <a:rPr lang="en-US" sz="1600" baseline="0" dirty="0" smtClean="0">
                <a:ea typeface="+mj-ea"/>
              </a:rPr>
              <a:t>Institutional Businesses</a:t>
            </a:r>
            <a:endParaRPr lang="en-US" sz="1600" baseline="0" dirty="0">
              <a:ea typeface="+mj-ea"/>
            </a:endParaRPr>
          </a:p>
        </p:txBody>
      </p:sp>
      <p:cxnSp>
        <p:nvCxnSpPr>
          <p:cNvPr id="36" name="Straight Connector 35"/>
          <p:cNvCxnSpPr/>
          <p:nvPr/>
        </p:nvCxnSpPr>
        <p:spPr bwMode="auto">
          <a:xfrm>
            <a:off x="1182624" y="2676267"/>
            <a:ext cx="0" cy="1489318"/>
          </a:xfrm>
          <a:prstGeom prst="line">
            <a:avLst/>
          </a:prstGeom>
          <a:solidFill>
            <a:schemeClr val="folHlink"/>
          </a:solidFill>
          <a:ln w="3810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Straight Arrow Connector 39"/>
          <p:cNvCxnSpPr/>
          <p:nvPr/>
        </p:nvCxnSpPr>
        <p:spPr bwMode="auto">
          <a:xfrm>
            <a:off x="1182624" y="3182112"/>
            <a:ext cx="438912" cy="0"/>
          </a:xfrm>
          <a:prstGeom prst="straightConnector1">
            <a:avLst/>
          </a:prstGeom>
          <a:solidFill>
            <a:schemeClr val="folHlink"/>
          </a:solidFill>
          <a:ln w="38100" cap="flat" cmpd="sng" algn="ctr">
            <a:solidFill>
              <a:schemeClr val="tx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Straight Arrow Connector 40"/>
          <p:cNvCxnSpPr/>
          <p:nvPr/>
        </p:nvCxnSpPr>
        <p:spPr bwMode="auto">
          <a:xfrm>
            <a:off x="1182624" y="3675888"/>
            <a:ext cx="438912" cy="0"/>
          </a:xfrm>
          <a:prstGeom prst="straightConnector1">
            <a:avLst/>
          </a:prstGeom>
          <a:solidFill>
            <a:schemeClr val="folHlink"/>
          </a:solidFill>
          <a:ln w="38100" cap="flat" cmpd="sng" algn="ctr">
            <a:solidFill>
              <a:schemeClr val="tx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Arrow Connector 41"/>
          <p:cNvCxnSpPr>
            <a:endCxn id="46" idx="1"/>
          </p:cNvCxnSpPr>
          <p:nvPr/>
        </p:nvCxnSpPr>
        <p:spPr bwMode="auto">
          <a:xfrm>
            <a:off x="1182624" y="4165585"/>
            <a:ext cx="438912" cy="4079"/>
          </a:xfrm>
          <a:prstGeom prst="straightConnector1">
            <a:avLst/>
          </a:prstGeom>
          <a:solidFill>
            <a:schemeClr val="folHlink"/>
          </a:solidFill>
          <a:ln w="38100" cap="flat" cmpd="sng" algn="ctr">
            <a:solidFill>
              <a:schemeClr val="tx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Rounded Rectangle 43"/>
          <p:cNvSpPr/>
          <p:nvPr/>
        </p:nvSpPr>
        <p:spPr bwMode="auto">
          <a:xfrm>
            <a:off x="1621910" y="2993159"/>
            <a:ext cx="1377696"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45" name="Rounded Rectangle 44"/>
          <p:cNvSpPr/>
          <p:nvPr/>
        </p:nvSpPr>
        <p:spPr bwMode="auto">
          <a:xfrm>
            <a:off x="1621536" y="3495048"/>
            <a:ext cx="1377696"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46" name="Rounded Rectangle 45"/>
          <p:cNvSpPr/>
          <p:nvPr/>
        </p:nvSpPr>
        <p:spPr bwMode="auto">
          <a:xfrm>
            <a:off x="1621536" y="3988823"/>
            <a:ext cx="1377696"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50" name="TextBox 49"/>
          <p:cNvSpPr txBox="1"/>
          <p:nvPr/>
        </p:nvSpPr>
        <p:spPr>
          <a:xfrm>
            <a:off x="1621535" y="3029613"/>
            <a:ext cx="1377698" cy="307777"/>
          </a:xfrm>
          <a:prstGeom prst="rect">
            <a:avLst/>
          </a:prstGeom>
          <a:noFill/>
        </p:spPr>
        <p:txBody>
          <a:bodyPr wrap="square" rtlCol="0">
            <a:spAutoFit/>
          </a:bodyPr>
          <a:lstStyle/>
          <a:p>
            <a:r>
              <a:rPr lang="en-US" sz="1400" baseline="0" dirty="0" smtClean="0">
                <a:ea typeface="+mj-ea"/>
              </a:rPr>
              <a:t>Retail</a:t>
            </a:r>
            <a:r>
              <a:rPr lang="en-US" sz="1400" dirty="0" smtClean="0">
                <a:ea typeface="+mj-ea"/>
              </a:rPr>
              <a:t> Banking</a:t>
            </a:r>
            <a:endParaRPr lang="en-US" sz="1400" baseline="0" dirty="0">
              <a:ea typeface="+mj-ea"/>
            </a:endParaRPr>
          </a:p>
        </p:txBody>
      </p:sp>
      <p:sp>
        <p:nvSpPr>
          <p:cNvPr id="51" name="TextBox 50"/>
          <p:cNvSpPr txBox="1"/>
          <p:nvPr/>
        </p:nvSpPr>
        <p:spPr>
          <a:xfrm>
            <a:off x="1621535" y="3499126"/>
            <a:ext cx="1377697" cy="307777"/>
          </a:xfrm>
          <a:prstGeom prst="rect">
            <a:avLst/>
          </a:prstGeom>
          <a:noFill/>
        </p:spPr>
        <p:txBody>
          <a:bodyPr wrap="square" rtlCol="0">
            <a:spAutoFit/>
          </a:bodyPr>
          <a:lstStyle/>
          <a:p>
            <a:r>
              <a:rPr lang="en-US" sz="1400" baseline="0" dirty="0" smtClean="0">
                <a:ea typeface="+mj-ea"/>
              </a:rPr>
              <a:t>Credit Cards</a:t>
            </a:r>
            <a:endParaRPr lang="en-US" sz="1400" baseline="0" dirty="0">
              <a:ea typeface="+mj-ea"/>
            </a:endParaRPr>
          </a:p>
        </p:txBody>
      </p:sp>
      <p:sp>
        <p:nvSpPr>
          <p:cNvPr id="52" name="TextBox 51"/>
          <p:cNvSpPr txBox="1"/>
          <p:nvPr/>
        </p:nvSpPr>
        <p:spPr>
          <a:xfrm>
            <a:off x="1621536" y="4012821"/>
            <a:ext cx="1377696" cy="307777"/>
          </a:xfrm>
          <a:prstGeom prst="rect">
            <a:avLst/>
          </a:prstGeom>
          <a:noFill/>
        </p:spPr>
        <p:txBody>
          <a:bodyPr wrap="square" rtlCol="0">
            <a:spAutoFit/>
          </a:bodyPr>
          <a:lstStyle/>
          <a:p>
            <a:r>
              <a:rPr lang="en-US" sz="1400" baseline="0" dirty="0" smtClean="0">
                <a:ea typeface="+mj-ea"/>
              </a:rPr>
              <a:t>Commercial</a:t>
            </a:r>
            <a:endParaRPr lang="en-US" sz="1400" baseline="0" dirty="0">
              <a:ea typeface="+mj-ea"/>
            </a:endParaRPr>
          </a:p>
        </p:txBody>
      </p:sp>
      <p:sp>
        <p:nvSpPr>
          <p:cNvPr id="53" name="Rounded Rectangle 52"/>
          <p:cNvSpPr/>
          <p:nvPr/>
        </p:nvSpPr>
        <p:spPr bwMode="auto">
          <a:xfrm>
            <a:off x="5243645" y="2975708"/>
            <a:ext cx="1377696"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54" name="TextBox 53"/>
          <p:cNvSpPr txBox="1"/>
          <p:nvPr/>
        </p:nvSpPr>
        <p:spPr>
          <a:xfrm>
            <a:off x="5243269" y="2914677"/>
            <a:ext cx="1378072" cy="461665"/>
          </a:xfrm>
          <a:prstGeom prst="rect">
            <a:avLst/>
          </a:prstGeom>
          <a:noFill/>
        </p:spPr>
        <p:txBody>
          <a:bodyPr wrap="square" rtlCol="0">
            <a:spAutoFit/>
          </a:bodyPr>
          <a:lstStyle/>
          <a:p>
            <a:r>
              <a:rPr lang="en-US" baseline="0" dirty="0" smtClean="0">
                <a:ea typeface="+mj-ea"/>
              </a:rPr>
              <a:t>Capital Market Origination</a:t>
            </a:r>
            <a:endParaRPr lang="en-US" baseline="0" dirty="0">
              <a:ea typeface="+mj-ea"/>
            </a:endParaRPr>
          </a:p>
        </p:txBody>
      </p:sp>
      <p:sp>
        <p:nvSpPr>
          <p:cNvPr id="55" name="Rounded Rectangle 54"/>
          <p:cNvSpPr/>
          <p:nvPr/>
        </p:nvSpPr>
        <p:spPr bwMode="auto">
          <a:xfrm>
            <a:off x="7060627" y="2975709"/>
            <a:ext cx="1377696"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56" name="TextBox 55"/>
          <p:cNvSpPr txBox="1"/>
          <p:nvPr/>
        </p:nvSpPr>
        <p:spPr>
          <a:xfrm>
            <a:off x="6961633" y="3029613"/>
            <a:ext cx="1476318" cy="276999"/>
          </a:xfrm>
          <a:prstGeom prst="rect">
            <a:avLst/>
          </a:prstGeom>
          <a:noFill/>
        </p:spPr>
        <p:txBody>
          <a:bodyPr wrap="square" rtlCol="0">
            <a:spAutoFit/>
          </a:bodyPr>
          <a:lstStyle/>
          <a:p>
            <a:r>
              <a:rPr lang="en-US" baseline="0" dirty="0" smtClean="0">
                <a:ea typeface="+mj-ea"/>
              </a:rPr>
              <a:t>Securities</a:t>
            </a:r>
            <a:r>
              <a:rPr lang="en-US" dirty="0" smtClean="0">
                <a:ea typeface="+mj-ea"/>
              </a:rPr>
              <a:t> Services</a:t>
            </a:r>
            <a:endParaRPr lang="en-US" baseline="0" dirty="0">
              <a:ea typeface="+mj-ea"/>
            </a:endParaRPr>
          </a:p>
        </p:txBody>
      </p:sp>
      <p:sp>
        <p:nvSpPr>
          <p:cNvPr id="58" name="Rounded Rectangle 57"/>
          <p:cNvSpPr/>
          <p:nvPr/>
        </p:nvSpPr>
        <p:spPr bwMode="auto">
          <a:xfrm>
            <a:off x="5243645" y="3518473"/>
            <a:ext cx="1377696"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59" name="TextBox 58"/>
          <p:cNvSpPr txBox="1"/>
          <p:nvPr/>
        </p:nvSpPr>
        <p:spPr>
          <a:xfrm>
            <a:off x="5048607" y="3554927"/>
            <a:ext cx="1755613" cy="276999"/>
          </a:xfrm>
          <a:prstGeom prst="rect">
            <a:avLst/>
          </a:prstGeom>
          <a:noFill/>
        </p:spPr>
        <p:txBody>
          <a:bodyPr wrap="square" rtlCol="0">
            <a:spAutoFit/>
          </a:bodyPr>
          <a:lstStyle/>
          <a:p>
            <a:r>
              <a:rPr lang="en-US" dirty="0" smtClean="0">
                <a:ea typeface="+mj-ea"/>
              </a:rPr>
              <a:t>Investment Banking</a:t>
            </a:r>
            <a:endParaRPr lang="en-US" baseline="0" dirty="0">
              <a:ea typeface="+mj-ea"/>
            </a:endParaRPr>
          </a:p>
        </p:txBody>
      </p:sp>
      <p:sp>
        <p:nvSpPr>
          <p:cNvPr id="60" name="Rounded Rectangle 59"/>
          <p:cNvSpPr/>
          <p:nvPr/>
        </p:nvSpPr>
        <p:spPr bwMode="auto">
          <a:xfrm>
            <a:off x="7060627" y="3535924"/>
            <a:ext cx="1377696"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61" name="TextBox 60"/>
          <p:cNvSpPr txBox="1"/>
          <p:nvPr/>
        </p:nvSpPr>
        <p:spPr>
          <a:xfrm>
            <a:off x="6999258" y="3572378"/>
            <a:ext cx="1438692" cy="307777"/>
          </a:xfrm>
          <a:prstGeom prst="rect">
            <a:avLst/>
          </a:prstGeom>
          <a:noFill/>
        </p:spPr>
        <p:txBody>
          <a:bodyPr wrap="square" rtlCol="0">
            <a:spAutoFit/>
          </a:bodyPr>
          <a:lstStyle/>
          <a:p>
            <a:r>
              <a:rPr lang="en-US" dirty="0">
                <a:ea typeface="+mj-ea"/>
              </a:rPr>
              <a:t>Private</a:t>
            </a:r>
            <a:r>
              <a:rPr lang="en-US" sz="1400" baseline="0" dirty="0" smtClean="0">
                <a:ea typeface="+mj-ea"/>
              </a:rPr>
              <a:t> </a:t>
            </a:r>
            <a:r>
              <a:rPr lang="en-US" baseline="0" dirty="0" smtClean="0">
                <a:ea typeface="+mj-ea"/>
              </a:rPr>
              <a:t>Banking</a:t>
            </a:r>
            <a:endParaRPr lang="en-US" baseline="0" dirty="0">
              <a:ea typeface="+mj-ea"/>
            </a:endParaRPr>
          </a:p>
        </p:txBody>
      </p:sp>
      <p:sp>
        <p:nvSpPr>
          <p:cNvPr id="62" name="Rounded Rectangle 61"/>
          <p:cNvSpPr/>
          <p:nvPr/>
        </p:nvSpPr>
        <p:spPr bwMode="auto">
          <a:xfrm>
            <a:off x="5243644" y="4078689"/>
            <a:ext cx="3194305"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63" name="TextBox 62"/>
          <p:cNvSpPr txBox="1"/>
          <p:nvPr/>
        </p:nvSpPr>
        <p:spPr>
          <a:xfrm>
            <a:off x="5243269" y="4115143"/>
            <a:ext cx="3194679" cy="307777"/>
          </a:xfrm>
          <a:prstGeom prst="rect">
            <a:avLst/>
          </a:prstGeom>
          <a:noFill/>
        </p:spPr>
        <p:txBody>
          <a:bodyPr wrap="square" rtlCol="0">
            <a:spAutoFit/>
          </a:bodyPr>
          <a:lstStyle/>
          <a:p>
            <a:r>
              <a:rPr lang="en-US" sz="1400" b="1" baseline="0" dirty="0" smtClean="0">
                <a:ea typeface="+mj-ea"/>
              </a:rPr>
              <a:t>Treasury and Trade Solutions (TTS)</a:t>
            </a:r>
            <a:endParaRPr lang="en-US" sz="1400" b="1" baseline="0" dirty="0">
              <a:ea typeface="+mj-ea"/>
            </a:endParaRPr>
          </a:p>
        </p:txBody>
      </p:sp>
      <p:cxnSp>
        <p:nvCxnSpPr>
          <p:cNvPr id="69" name="Straight Arrow Connector 68"/>
          <p:cNvCxnSpPr>
            <a:stCxn id="30" idx="2"/>
            <a:endCxn id="62" idx="0"/>
          </p:cNvCxnSpPr>
          <p:nvPr/>
        </p:nvCxnSpPr>
        <p:spPr bwMode="auto">
          <a:xfrm>
            <a:off x="6840797" y="2643652"/>
            <a:ext cx="0" cy="1435037"/>
          </a:xfrm>
          <a:prstGeom prst="straightConnector1">
            <a:avLst/>
          </a:prstGeom>
          <a:solidFill>
            <a:schemeClr val="folHlink"/>
          </a:solidFill>
          <a:ln w="44450" cap="flat" cmpd="sng" algn="ctr">
            <a:solidFill>
              <a:schemeClr val="tx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Straight Arrow Connector 69"/>
          <p:cNvCxnSpPr>
            <a:endCxn id="53" idx="3"/>
          </p:cNvCxnSpPr>
          <p:nvPr/>
        </p:nvCxnSpPr>
        <p:spPr bwMode="auto">
          <a:xfrm flipH="1" flipV="1">
            <a:off x="6621341" y="3156549"/>
            <a:ext cx="438536" cy="1"/>
          </a:xfrm>
          <a:prstGeom prst="straightConnector1">
            <a:avLst/>
          </a:prstGeom>
          <a:solidFill>
            <a:schemeClr val="folHlink"/>
          </a:solidFill>
          <a:ln w="38100" cap="flat" cmpd="sng" algn="ctr">
            <a:solidFill>
              <a:schemeClr val="tx2"/>
            </a:solidFill>
            <a:prstDash val="solid"/>
            <a:round/>
            <a:headEnd type="triangl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Straight Arrow Connector 81"/>
          <p:cNvCxnSpPr/>
          <p:nvPr/>
        </p:nvCxnSpPr>
        <p:spPr bwMode="auto">
          <a:xfrm flipH="1">
            <a:off x="6620965" y="3693709"/>
            <a:ext cx="439286" cy="5605"/>
          </a:xfrm>
          <a:prstGeom prst="straightConnector1">
            <a:avLst/>
          </a:prstGeom>
          <a:solidFill>
            <a:schemeClr val="folHlink"/>
          </a:solidFill>
          <a:ln w="38100" cap="flat" cmpd="sng" algn="ctr">
            <a:solidFill>
              <a:schemeClr val="tx2"/>
            </a:solidFill>
            <a:prstDash val="solid"/>
            <a:round/>
            <a:headEnd type="triangl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1958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Treasury and its major activities:</a:t>
            </a:r>
            <a:endParaRPr lang="en-US" dirty="0"/>
          </a:p>
        </p:txBody>
      </p:sp>
      <p:sp>
        <p:nvSpPr>
          <p:cNvPr id="5" name="TextBox 4"/>
          <p:cNvSpPr txBox="1"/>
          <p:nvPr/>
        </p:nvSpPr>
        <p:spPr>
          <a:xfrm>
            <a:off x="0" y="699796"/>
            <a:ext cx="9144000" cy="1077218"/>
          </a:xfrm>
          <a:prstGeom prst="rect">
            <a:avLst/>
          </a:prstGeom>
          <a:noFill/>
        </p:spPr>
        <p:txBody>
          <a:bodyPr wrap="square" rtlCol="0">
            <a:spAutoFit/>
          </a:bodyPr>
          <a:lstStyle/>
          <a:p>
            <a:r>
              <a:rPr lang="en-US" sz="1600" i="1" dirty="0">
                <a:solidFill>
                  <a:srgbClr val="000000"/>
                </a:solidFill>
              </a:rPr>
              <a:t>Treasury Management is core finance function of any business. </a:t>
            </a:r>
            <a:r>
              <a:rPr lang="en-US" sz="1600" i="1" dirty="0" smtClean="0">
                <a:solidFill>
                  <a:srgbClr val="000000"/>
                </a:solidFill>
              </a:rPr>
              <a:t>It includes </a:t>
            </a:r>
            <a:r>
              <a:rPr lang="en-US" sz="1600" i="1" dirty="0">
                <a:solidFill>
                  <a:srgbClr val="000000"/>
                </a:solidFill>
              </a:rPr>
              <a:t>management of an enterprise's holdings, with the ultimate goal of managing the firm's liquidity and mitigating its operational, financial and reputational risk. Treasury Management includes a firm's collections, disbursements, concentration, investment and funding activities. </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12126"/>
          <a:stretch/>
        </p:blipFill>
        <p:spPr>
          <a:xfrm>
            <a:off x="1714639" y="1851662"/>
            <a:ext cx="5714722" cy="2992894"/>
          </a:xfrm>
          <a:prstGeom prst="rect">
            <a:avLst/>
          </a:prstGeom>
        </p:spPr>
      </p:pic>
    </p:spTree>
    <p:extLst>
      <p:ext uri="{BB962C8B-B14F-4D97-AF65-F5344CB8AC3E}">
        <p14:creationId xmlns:p14="http://schemas.microsoft.com/office/powerpoint/2010/main" val="16684186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Treasury and Trade Solutions (TTS):</a:t>
            </a:r>
            <a:endParaRPr lang="en-US" dirty="0"/>
          </a:p>
        </p:txBody>
      </p:sp>
      <p:sp>
        <p:nvSpPr>
          <p:cNvPr id="4" name="TextBox 3"/>
          <p:cNvSpPr txBox="1"/>
          <p:nvPr/>
        </p:nvSpPr>
        <p:spPr>
          <a:xfrm>
            <a:off x="269878" y="853440"/>
            <a:ext cx="8740010" cy="923330"/>
          </a:xfrm>
          <a:prstGeom prst="rect">
            <a:avLst/>
          </a:prstGeom>
          <a:noFill/>
        </p:spPr>
        <p:txBody>
          <a:bodyPr wrap="square" rtlCol="0">
            <a:spAutoFit/>
          </a:bodyPr>
          <a:lstStyle/>
          <a:p>
            <a:r>
              <a:rPr lang="en-US" sz="1800" i="1" dirty="0">
                <a:solidFill>
                  <a:srgbClr val="000000"/>
                </a:solidFill>
              </a:rPr>
              <a:t>Treasury and Trade Solutions (TTS) business provides integrated cash management and trade finance services to </a:t>
            </a:r>
            <a:r>
              <a:rPr lang="en-US" sz="1800" i="1" u="sng" dirty="0">
                <a:solidFill>
                  <a:srgbClr val="000000"/>
                </a:solidFill>
              </a:rPr>
              <a:t>multinational corporations</a:t>
            </a:r>
            <a:r>
              <a:rPr lang="en-US" sz="1800" i="1" dirty="0">
                <a:solidFill>
                  <a:srgbClr val="000000"/>
                </a:solidFill>
              </a:rPr>
              <a:t>, </a:t>
            </a:r>
            <a:r>
              <a:rPr lang="en-US" sz="1800" i="1" u="sng" dirty="0">
                <a:solidFill>
                  <a:srgbClr val="000000"/>
                </a:solidFill>
              </a:rPr>
              <a:t>financial institutions</a:t>
            </a:r>
            <a:r>
              <a:rPr lang="en-US" sz="1800" i="1" dirty="0">
                <a:solidFill>
                  <a:srgbClr val="000000"/>
                </a:solidFill>
              </a:rPr>
              <a:t> and </a:t>
            </a:r>
            <a:r>
              <a:rPr lang="en-US" sz="1800" i="1" u="sng" dirty="0">
                <a:solidFill>
                  <a:srgbClr val="000000"/>
                </a:solidFill>
              </a:rPr>
              <a:t>public sector organizations</a:t>
            </a:r>
            <a:r>
              <a:rPr lang="en-US" sz="1800" i="1" dirty="0">
                <a:solidFill>
                  <a:srgbClr val="000000"/>
                </a:solidFill>
              </a:rPr>
              <a:t> across the globe.</a:t>
            </a:r>
            <a:r>
              <a:rPr lang="en-US" sz="1800" b="1" i="1" dirty="0">
                <a:solidFill>
                  <a:srgbClr val="000000"/>
                </a:solidFill>
              </a:rPr>
              <a:t> </a:t>
            </a:r>
            <a:endParaRPr lang="en-US" sz="1800" i="1" baseline="0" dirty="0">
              <a:solidFill>
                <a:srgbClr val="000000"/>
              </a:solidFill>
              <a:ea typeface="+mj-ea"/>
            </a:endParaRPr>
          </a:p>
        </p:txBody>
      </p:sp>
      <p:sp>
        <p:nvSpPr>
          <p:cNvPr id="10" name="Rounded Rectangle 9"/>
          <p:cNvSpPr/>
          <p:nvPr/>
        </p:nvSpPr>
        <p:spPr bwMode="auto">
          <a:xfrm>
            <a:off x="270252" y="2005062"/>
            <a:ext cx="1656083"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Arial" pitchFamily="34" charset="0"/>
              <a:ea typeface="+mj-ea"/>
            </a:endParaRPr>
          </a:p>
        </p:txBody>
      </p:sp>
      <p:sp>
        <p:nvSpPr>
          <p:cNvPr id="11" name="TextBox 10"/>
          <p:cNvSpPr txBox="1"/>
          <p:nvPr/>
        </p:nvSpPr>
        <p:spPr>
          <a:xfrm>
            <a:off x="269878" y="2041516"/>
            <a:ext cx="1656457" cy="307777"/>
          </a:xfrm>
          <a:prstGeom prst="rect">
            <a:avLst/>
          </a:prstGeom>
          <a:noFill/>
        </p:spPr>
        <p:txBody>
          <a:bodyPr wrap="square" rtlCol="0">
            <a:spAutoFit/>
          </a:bodyPr>
          <a:lstStyle/>
          <a:p>
            <a:r>
              <a:rPr lang="en-US" sz="1400" baseline="0" dirty="0" smtClean="0">
                <a:ea typeface="+mj-ea"/>
              </a:rPr>
              <a:t>Channel Services</a:t>
            </a:r>
            <a:endParaRPr lang="en-US" sz="1400" baseline="0" dirty="0">
              <a:ea typeface="+mj-ea"/>
            </a:endParaRPr>
          </a:p>
        </p:txBody>
      </p:sp>
      <p:sp>
        <p:nvSpPr>
          <p:cNvPr id="12" name="Rounded Rectangle 11"/>
          <p:cNvSpPr/>
          <p:nvPr/>
        </p:nvSpPr>
        <p:spPr bwMode="auto">
          <a:xfrm>
            <a:off x="270252" y="2614039"/>
            <a:ext cx="1656083"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13" name="TextBox 12"/>
          <p:cNvSpPr txBox="1"/>
          <p:nvPr/>
        </p:nvSpPr>
        <p:spPr>
          <a:xfrm>
            <a:off x="269878" y="2650493"/>
            <a:ext cx="1656457" cy="307777"/>
          </a:xfrm>
          <a:prstGeom prst="rect">
            <a:avLst/>
          </a:prstGeom>
          <a:noFill/>
        </p:spPr>
        <p:txBody>
          <a:bodyPr wrap="square" rtlCol="0">
            <a:spAutoFit/>
          </a:bodyPr>
          <a:lstStyle/>
          <a:p>
            <a:r>
              <a:rPr lang="en-US" sz="1400" baseline="0" dirty="0" smtClean="0">
                <a:ea typeface="+mj-ea"/>
              </a:rPr>
              <a:t>Commercial Cards</a:t>
            </a:r>
            <a:endParaRPr lang="en-US" sz="1400" baseline="0" dirty="0">
              <a:ea typeface="+mj-ea"/>
            </a:endParaRPr>
          </a:p>
        </p:txBody>
      </p:sp>
      <p:sp>
        <p:nvSpPr>
          <p:cNvPr id="14" name="Rounded Rectangle 13"/>
          <p:cNvSpPr/>
          <p:nvPr/>
        </p:nvSpPr>
        <p:spPr bwMode="auto">
          <a:xfrm>
            <a:off x="270252" y="3223016"/>
            <a:ext cx="1656083"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15" name="TextBox 14"/>
          <p:cNvSpPr txBox="1"/>
          <p:nvPr/>
        </p:nvSpPr>
        <p:spPr>
          <a:xfrm>
            <a:off x="208917" y="3249968"/>
            <a:ext cx="1778378" cy="307777"/>
          </a:xfrm>
          <a:prstGeom prst="rect">
            <a:avLst/>
          </a:prstGeom>
          <a:noFill/>
        </p:spPr>
        <p:txBody>
          <a:bodyPr wrap="square" rtlCol="0">
            <a:spAutoFit/>
          </a:bodyPr>
          <a:lstStyle/>
          <a:p>
            <a:r>
              <a:rPr lang="en-US" sz="1400" baseline="0" dirty="0" smtClean="0">
                <a:ea typeface="+mj-ea"/>
              </a:rPr>
              <a:t>Integrated</a:t>
            </a:r>
            <a:r>
              <a:rPr lang="en-US" sz="1400" dirty="0" smtClean="0">
                <a:ea typeface="+mj-ea"/>
              </a:rPr>
              <a:t> Payables</a:t>
            </a:r>
            <a:endParaRPr lang="en-US" sz="1400" baseline="0" dirty="0">
              <a:ea typeface="+mj-ea"/>
            </a:endParaRPr>
          </a:p>
        </p:txBody>
      </p:sp>
      <p:sp>
        <p:nvSpPr>
          <p:cNvPr id="16" name="Rounded Rectangle 15"/>
          <p:cNvSpPr/>
          <p:nvPr/>
        </p:nvSpPr>
        <p:spPr bwMode="auto">
          <a:xfrm>
            <a:off x="2629404" y="2039792"/>
            <a:ext cx="1656083"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17" name="TextBox 16"/>
          <p:cNvSpPr txBox="1"/>
          <p:nvPr/>
        </p:nvSpPr>
        <p:spPr>
          <a:xfrm>
            <a:off x="2629030" y="2076246"/>
            <a:ext cx="1656457" cy="307777"/>
          </a:xfrm>
          <a:prstGeom prst="rect">
            <a:avLst/>
          </a:prstGeom>
          <a:noFill/>
        </p:spPr>
        <p:txBody>
          <a:bodyPr wrap="square" rtlCol="0">
            <a:spAutoFit/>
          </a:bodyPr>
          <a:lstStyle/>
          <a:p>
            <a:r>
              <a:rPr lang="en-US" sz="1400" baseline="0" dirty="0" smtClean="0">
                <a:ea typeface="+mj-ea"/>
              </a:rPr>
              <a:t>Payments</a:t>
            </a:r>
            <a:endParaRPr lang="en-US" sz="1400" baseline="0" dirty="0">
              <a:ea typeface="+mj-ea"/>
            </a:endParaRPr>
          </a:p>
        </p:txBody>
      </p:sp>
      <p:sp>
        <p:nvSpPr>
          <p:cNvPr id="18" name="Rounded Rectangle 17"/>
          <p:cNvSpPr/>
          <p:nvPr/>
        </p:nvSpPr>
        <p:spPr bwMode="auto">
          <a:xfrm>
            <a:off x="2629404" y="2619195"/>
            <a:ext cx="1656083"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19" name="TextBox 18"/>
          <p:cNvSpPr txBox="1"/>
          <p:nvPr/>
        </p:nvSpPr>
        <p:spPr>
          <a:xfrm>
            <a:off x="2629030" y="2655649"/>
            <a:ext cx="1656457" cy="307777"/>
          </a:xfrm>
          <a:prstGeom prst="rect">
            <a:avLst/>
          </a:prstGeom>
          <a:noFill/>
        </p:spPr>
        <p:txBody>
          <a:bodyPr wrap="square" rtlCol="0">
            <a:spAutoFit/>
          </a:bodyPr>
          <a:lstStyle/>
          <a:p>
            <a:r>
              <a:rPr lang="en-US" sz="1400" baseline="0" dirty="0" smtClean="0">
                <a:ea typeface="+mj-ea"/>
              </a:rPr>
              <a:t>Receivables</a:t>
            </a:r>
            <a:endParaRPr lang="en-US" sz="1400" baseline="0" dirty="0">
              <a:ea typeface="+mj-ea"/>
            </a:endParaRPr>
          </a:p>
        </p:txBody>
      </p:sp>
      <p:sp>
        <p:nvSpPr>
          <p:cNvPr id="20" name="Rounded Rectangle 19"/>
          <p:cNvSpPr/>
          <p:nvPr/>
        </p:nvSpPr>
        <p:spPr bwMode="auto">
          <a:xfrm>
            <a:off x="2629404" y="3229136"/>
            <a:ext cx="1656083"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21" name="TextBox 20"/>
          <p:cNvSpPr txBox="1"/>
          <p:nvPr/>
        </p:nvSpPr>
        <p:spPr>
          <a:xfrm>
            <a:off x="2629030" y="3265590"/>
            <a:ext cx="1656457" cy="307777"/>
          </a:xfrm>
          <a:prstGeom prst="rect">
            <a:avLst/>
          </a:prstGeom>
          <a:noFill/>
        </p:spPr>
        <p:txBody>
          <a:bodyPr wrap="square" rtlCol="0">
            <a:spAutoFit/>
          </a:bodyPr>
          <a:lstStyle/>
          <a:p>
            <a:r>
              <a:rPr lang="en-US" sz="1400" baseline="0" dirty="0" smtClean="0">
                <a:ea typeface="+mj-ea"/>
              </a:rPr>
              <a:t>Trade Finance</a:t>
            </a:r>
            <a:endParaRPr lang="en-US" sz="1400" baseline="0" dirty="0">
              <a:ea typeface="+mj-ea"/>
            </a:endParaRPr>
          </a:p>
        </p:txBody>
      </p:sp>
      <p:sp>
        <p:nvSpPr>
          <p:cNvPr id="22" name="Rounded Rectangle 21"/>
          <p:cNvSpPr/>
          <p:nvPr/>
        </p:nvSpPr>
        <p:spPr bwMode="auto">
          <a:xfrm>
            <a:off x="4988556" y="2039792"/>
            <a:ext cx="2107188" cy="361682"/>
          </a:xfrm>
          <a:prstGeom prst="roundRect">
            <a:avLst/>
          </a:prstGeom>
          <a:ln>
            <a:solidFill>
              <a:srgbClr val="00B0F0"/>
            </a:solidFill>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endParaRPr lang="en-US" sz="1400" dirty="0">
              <a:solidFill>
                <a:schemeClr val="tx1"/>
              </a:solidFill>
              <a:latin typeface="Arial" pitchFamily="34" charset="0"/>
              <a:ea typeface="+mj-ea"/>
            </a:endParaRPr>
          </a:p>
        </p:txBody>
      </p:sp>
      <p:sp>
        <p:nvSpPr>
          <p:cNvPr id="23" name="TextBox 22"/>
          <p:cNvSpPr txBox="1"/>
          <p:nvPr/>
        </p:nvSpPr>
        <p:spPr>
          <a:xfrm>
            <a:off x="4988182" y="2076246"/>
            <a:ext cx="2107562" cy="307777"/>
          </a:xfrm>
          <a:prstGeom prst="rect">
            <a:avLst/>
          </a:prstGeom>
          <a:noFill/>
        </p:spPr>
        <p:txBody>
          <a:bodyPr wrap="square" rtlCol="0">
            <a:spAutoFit/>
          </a:bodyPr>
          <a:lstStyle/>
          <a:p>
            <a:r>
              <a:rPr lang="en-US" sz="1400" b="1" baseline="0" dirty="0" smtClean="0">
                <a:ea typeface="+mj-ea"/>
              </a:rPr>
              <a:t>Liquidity Management</a:t>
            </a:r>
            <a:endParaRPr lang="en-US" sz="1400" b="1" baseline="0" dirty="0">
              <a:ea typeface="+mj-ea"/>
            </a:endParaRPr>
          </a:p>
        </p:txBody>
      </p:sp>
    </p:spTree>
    <p:extLst>
      <p:ext uri="{BB962C8B-B14F-4D97-AF65-F5344CB8AC3E}">
        <p14:creationId xmlns:p14="http://schemas.microsoft.com/office/powerpoint/2010/main" val="28861545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TTS:</a:t>
            </a:r>
            <a:endParaRPr lang="en-US" dirty="0"/>
          </a:p>
        </p:txBody>
      </p:sp>
      <p:sp>
        <p:nvSpPr>
          <p:cNvPr id="3" name="Content Placeholder 2"/>
          <p:cNvSpPr>
            <a:spLocks noGrp="1"/>
          </p:cNvSpPr>
          <p:nvPr>
            <p:ph sz="half" idx="1"/>
          </p:nvPr>
        </p:nvSpPr>
        <p:spPr>
          <a:xfrm>
            <a:off x="140676" y="816864"/>
            <a:ext cx="8723461" cy="3812286"/>
          </a:xfrm>
        </p:spPr>
        <p:txBody>
          <a:bodyPr/>
          <a:lstStyle/>
          <a:p>
            <a:r>
              <a:rPr lang="en-US" b="1" dirty="0" smtClean="0"/>
              <a:t>Commercial </a:t>
            </a:r>
            <a:r>
              <a:rPr lang="en-US" b="1" dirty="0"/>
              <a:t>Cards:</a:t>
            </a:r>
            <a:r>
              <a:rPr lang="en-US" dirty="0"/>
              <a:t> Comprehensive Solutions for Travel &amp; Entertainment, Purchasing &amp; B2B, and Administrative </a:t>
            </a:r>
            <a:r>
              <a:rPr lang="en-US" dirty="0" smtClean="0"/>
              <a:t>	business activities.</a:t>
            </a:r>
          </a:p>
          <a:p>
            <a:r>
              <a:rPr lang="en-US" b="1" dirty="0" smtClean="0"/>
              <a:t>Trade Finance: </a:t>
            </a:r>
            <a:r>
              <a:rPr lang="en-US" dirty="0"/>
              <a:t>As part of the Treasury and Trade Solutions (TTS) group, Citi offers an integrated trade platform that 	incorporates Trade Services (including Specialized Trade programs) and Export and Agency Finance 	products working together to create end-to-end solutions ranging from short- and medium-term 	financing to complex structured trade models. </a:t>
            </a:r>
          </a:p>
          <a:p>
            <a:r>
              <a:rPr lang="en-US" b="1" dirty="0" smtClean="0"/>
              <a:t>Integrated Payables:</a:t>
            </a:r>
            <a:r>
              <a:rPr lang="en-US" dirty="0" smtClean="0"/>
              <a:t> </a:t>
            </a:r>
            <a:r>
              <a:rPr lang="en-US" dirty="0"/>
              <a:t>Citi® Integrated Payables Solutions is a holistic suite of leading-edge analytics, core and emerging </a:t>
            </a:r>
            <a:r>
              <a:rPr lang="en-US" dirty="0" smtClean="0"/>
              <a:t>	payment </a:t>
            </a:r>
            <a:r>
              <a:rPr lang="en-US" dirty="0"/>
              <a:t>services, supplier enrollment and other capabilities to help optimize working capital and </a:t>
            </a:r>
            <a:r>
              <a:rPr lang="en-US" dirty="0" smtClean="0"/>
              <a:t>	maximize </a:t>
            </a:r>
            <a:r>
              <a:rPr lang="en-US" dirty="0"/>
              <a:t>efficiencies across an organization’s complete supply chain. </a:t>
            </a:r>
          </a:p>
          <a:p>
            <a:r>
              <a:rPr lang="en-US" b="1" dirty="0"/>
              <a:t>Receivables:</a:t>
            </a:r>
            <a:r>
              <a:rPr lang="en-US" dirty="0"/>
              <a:t> Citi’s global </a:t>
            </a:r>
            <a:r>
              <a:rPr lang="en-US" dirty="0" smtClean="0"/>
              <a:t>receivables solutions </a:t>
            </a:r>
            <a:r>
              <a:rPr lang="en-US" dirty="0"/>
              <a:t>streamline receivables processing and increase operational efficiencies to </a:t>
            </a:r>
            <a:r>
              <a:rPr lang="en-US" dirty="0" smtClean="0"/>
              <a:t>	reduce </a:t>
            </a:r>
            <a:r>
              <a:rPr lang="en-US" dirty="0"/>
              <a:t>costs and </a:t>
            </a:r>
            <a:r>
              <a:rPr lang="en-US" dirty="0" smtClean="0"/>
              <a:t>help </a:t>
            </a:r>
            <a:r>
              <a:rPr lang="en-US" dirty="0"/>
              <a:t>organizations achieve their financial goals</a:t>
            </a:r>
            <a:r>
              <a:rPr lang="en-US" dirty="0" smtClean="0"/>
              <a:t>.</a:t>
            </a:r>
          </a:p>
          <a:p>
            <a:r>
              <a:rPr lang="en-US" b="1" dirty="0"/>
              <a:t>Payments</a:t>
            </a:r>
            <a:r>
              <a:rPr lang="en-US" b="1" dirty="0" smtClean="0"/>
              <a:t>: </a:t>
            </a:r>
            <a:r>
              <a:rPr lang="en-US" dirty="0"/>
              <a:t>Citi offers products and solutions to help you effectively manage your payments. Whether for invoices, </a:t>
            </a:r>
            <a:r>
              <a:rPr lang="en-US" dirty="0" smtClean="0"/>
              <a:t>	payroll </a:t>
            </a:r>
            <a:r>
              <a:rPr lang="en-US" dirty="0"/>
              <a:t>and taxes, or settlement of treasury activities, you gain from our presence in 100 countries. </a:t>
            </a:r>
            <a:r>
              <a:rPr lang="en-US" dirty="0" smtClean="0"/>
              <a:t>	Domestic </a:t>
            </a:r>
            <a:r>
              <a:rPr lang="en-US" dirty="0"/>
              <a:t>and cross-border transaction </a:t>
            </a:r>
            <a:r>
              <a:rPr lang="en-US" dirty="0" smtClean="0"/>
              <a:t>initiation, Online </a:t>
            </a:r>
            <a:r>
              <a:rPr lang="en-US" dirty="0"/>
              <a:t>real-time </a:t>
            </a:r>
            <a:r>
              <a:rPr lang="en-US" dirty="0" smtClean="0"/>
              <a:t>information, Integration </a:t>
            </a:r>
            <a:r>
              <a:rPr lang="en-US" dirty="0"/>
              <a:t>with ERP </a:t>
            </a:r>
            <a:r>
              <a:rPr lang="en-US" dirty="0" smtClean="0"/>
              <a:t>	and Treasury</a:t>
            </a:r>
            <a:endParaRPr lang="en-US" dirty="0"/>
          </a:p>
          <a:p>
            <a:endParaRPr lang="en-US" dirty="0"/>
          </a:p>
        </p:txBody>
      </p:sp>
    </p:spTree>
    <p:extLst>
      <p:ext uri="{BB962C8B-B14F-4D97-AF65-F5344CB8AC3E}">
        <p14:creationId xmlns:p14="http://schemas.microsoft.com/office/powerpoint/2010/main" val="28083967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Liquidity Management:</a:t>
            </a:r>
            <a:endParaRPr lang="en-US" dirty="0"/>
          </a:p>
        </p:txBody>
      </p:sp>
      <p:sp>
        <p:nvSpPr>
          <p:cNvPr id="4" name="TextBox 3"/>
          <p:cNvSpPr txBox="1"/>
          <p:nvPr/>
        </p:nvSpPr>
        <p:spPr>
          <a:xfrm>
            <a:off x="272332" y="739293"/>
            <a:ext cx="8740010" cy="1200329"/>
          </a:xfrm>
          <a:prstGeom prst="rect">
            <a:avLst/>
          </a:prstGeom>
          <a:noFill/>
        </p:spPr>
        <p:txBody>
          <a:bodyPr wrap="square" rtlCol="0">
            <a:spAutoFit/>
          </a:bodyPr>
          <a:lstStyle/>
          <a:p>
            <a:r>
              <a:rPr lang="en-US" sz="1800" i="1" dirty="0">
                <a:solidFill>
                  <a:srgbClr val="000000"/>
                </a:solidFill>
              </a:rPr>
              <a:t>Moving, managing and investing funds – when and where </a:t>
            </a:r>
            <a:r>
              <a:rPr lang="en-US" sz="1800" i="1" dirty="0" smtClean="0">
                <a:solidFill>
                  <a:srgbClr val="000000"/>
                </a:solidFill>
              </a:rPr>
              <a:t>ever needed </a:t>
            </a:r>
            <a:r>
              <a:rPr lang="en-US" sz="1800" i="1" dirty="0">
                <a:solidFill>
                  <a:srgbClr val="000000"/>
                </a:solidFill>
              </a:rPr>
              <a:t>– is critical to </a:t>
            </a:r>
            <a:r>
              <a:rPr lang="en-US" sz="1800" i="1" dirty="0" smtClean="0">
                <a:solidFill>
                  <a:srgbClr val="000000"/>
                </a:solidFill>
              </a:rPr>
              <a:t>treasury </a:t>
            </a:r>
            <a:r>
              <a:rPr lang="en-US" sz="1800" i="1" dirty="0">
                <a:solidFill>
                  <a:srgbClr val="000000"/>
                </a:solidFill>
              </a:rPr>
              <a:t>operation. So is having a trusted partner who understands what it takes to optimize liquidity while controlling risks – whether </a:t>
            </a:r>
            <a:r>
              <a:rPr lang="en-US" sz="1800" i="1" dirty="0" smtClean="0">
                <a:solidFill>
                  <a:srgbClr val="000000"/>
                </a:solidFill>
              </a:rPr>
              <a:t>a business operates </a:t>
            </a:r>
            <a:r>
              <a:rPr lang="en-US" sz="1800" i="1" dirty="0">
                <a:solidFill>
                  <a:srgbClr val="000000"/>
                </a:solidFill>
              </a:rPr>
              <a:t>in a single market or around the globe.</a:t>
            </a:r>
          </a:p>
        </p:txBody>
      </p:sp>
      <p:sp>
        <p:nvSpPr>
          <p:cNvPr id="24" name="Content Placeholder 2"/>
          <p:cNvSpPr>
            <a:spLocks noGrp="1"/>
          </p:cNvSpPr>
          <p:nvPr>
            <p:ph sz="half" idx="1"/>
          </p:nvPr>
        </p:nvSpPr>
        <p:spPr>
          <a:xfrm>
            <a:off x="140676" y="2053768"/>
            <a:ext cx="9003323" cy="2575381"/>
          </a:xfrm>
        </p:spPr>
        <p:txBody>
          <a:bodyPr/>
          <a:lstStyle/>
          <a:p>
            <a:r>
              <a:rPr lang="en-US" sz="1600" b="1" dirty="0" smtClean="0"/>
              <a:t>Investment Services:</a:t>
            </a:r>
            <a:r>
              <a:rPr lang="en-US" sz="1600" dirty="0" smtClean="0"/>
              <a:t> Investment of excess funds to maximize returns and minimize costs.</a:t>
            </a:r>
          </a:p>
          <a:p>
            <a:r>
              <a:rPr lang="en-US" sz="1600" b="1" dirty="0" smtClean="0"/>
              <a:t>Notional </a:t>
            </a:r>
            <a:r>
              <a:rPr lang="en-US" sz="1600" b="1" dirty="0"/>
              <a:t>Pooling:</a:t>
            </a:r>
            <a:r>
              <a:rPr lang="en-US" sz="1600" dirty="0"/>
              <a:t> Pool participant accounts in a single currency are aggregated for interest compensation purposes. Funds are not physically moved, but are instead notionally combined. There is no commingling of funds, and the integrity of the individual account position is </a:t>
            </a:r>
            <a:r>
              <a:rPr lang="en-US" sz="1600" dirty="0" smtClean="0"/>
              <a:t>maintained</a:t>
            </a:r>
            <a:endParaRPr lang="en-US" dirty="0" smtClean="0"/>
          </a:p>
          <a:p>
            <a:r>
              <a:rPr lang="en-US" sz="1600" b="1" dirty="0"/>
              <a:t>Target </a:t>
            </a:r>
            <a:r>
              <a:rPr lang="en-US" sz="1600" b="1" dirty="0" smtClean="0"/>
              <a:t>Balancing: </a:t>
            </a:r>
            <a:r>
              <a:rPr lang="en-US" sz="1600" dirty="0" smtClean="0"/>
              <a:t>Automated </a:t>
            </a:r>
            <a:r>
              <a:rPr lang="en-US" sz="1600" dirty="0"/>
              <a:t>process that concentrates end-of-day balances from a source account to a target account. These services are maintained in-country, regionally and globally, and encompass structures operating within a single branch or multiple branches throughout the Citi network. </a:t>
            </a:r>
            <a:endParaRPr lang="en-US" sz="1600" b="1" u="sng" dirty="0"/>
          </a:p>
          <a:p>
            <a:r>
              <a:rPr lang="en-US" sz="1600" b="1" dirty="0"/>
              <a:t>Advisory Services:</a:t>
            </a:r>
          </a:p>
        </p:txBody>
      </p:sp>
    </p:spTree>
    <p:extLst>
      <p:ext uri="{BB962C8B-B14F-4D97-AF65-F5344CB8AC3E}">
        <p14:creationId xmlns:p14="http://schemas.microsoft.com/office/powerpoint/2010/main" val="32285368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7520663"/>
      </p:ext>
    </p:extLst>
  </p:cSld>
  <p:clrMapOvr>
    <a:masterClrMapping/>
  </p:clrMapOvr>
  <p:timing>
    <p:tnLst>
      <p:par>
        <p:cTn id="1" dur="indefinite" restart="never" nodeType="tmRoot"/>
      </p:par>
    </p:tnLst>
  </p:timing>
</p:sld>
</file>

<file path=ppt/theme/theme1.xml><?xml version="1.0" encoding="utf-8"?>
<a:theme xmlns:a="http://schemas.openxmlformats.org/drawingml/2006/main" name="L&amp;T Infotech">
  <a:themeElements>
    <a:clrScheme name="L&amp;T">
      <a:dk1>
        <a:srgbClr val="7C7C7C"/>
      </a:dk1>
      <a:lt1>
        <a:srgbClr val="FEFDFD"/>
      </a:lt1>
      <a:dk2>
        <a:srgbClr val="B2B2B2"/>
      </a:dk2>
      <a:lt2>
        <a:srgbClr val="FEFDFD"/>
      </a:lt2>
      <a:accent1>
        <a:srgbClr val="124079"/>
      </a:accent1>
      <a:accent2>
        <a:srgbClr val="7C7C7C"/>
      </a:accent2>
      <a:accent3>
        <a:srgbClr val="FCC320"/>
      </a:accent3>
      <a:accent4>
        <a:srgbClr val="20BDBE"/>
      </a:accent4>
      <a:accent5>
        <a:srgbClr val="706952"/>
      </a:accent5>
      <a:accent6>
        <a:srgbClr val="1AB26C"/>
      </a:accent6>
      <a:hlink>
        <a:srgbClr val="939598"/>
      </a:hlink>
      <a:folHlink>
        <a:srgbClr val="BBBDC0"/>
      </a:folHlink>
    </a:clrScheme>
    <a:fontScheme name="ICG Fonts">
      <a:majorFont>
        <a:latin typeface="Arial"/>
        <a:ea typeface="STKaiti"/>
        <a:cs typeface=""/>
      </a:majorFont>
      <a:minorFont>
        <a:latin typeface="Arial"/>
        <a:ea typeface="STKait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folHlink"/>
        </a:solidFill>
        <a:ln w="635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1400" b="0" i="0" u="none" strike="noStrike" cap="none" normalizeH="0" baseline="0" dirty="0" smtClean="0">
            <a:ln>
              <a:noFill/>
            </a:ln>
            <a:solidFill>
              <a:schemeClr val="tx1"/>
            </a:solidFill>
            <a:effectLst/>
            <a:latin typeface="Arial" pitchFamily="34" charset="0"/>
            <a:ea typeface="+mj-ea"/>
          </a:defRPr>
        </a:defPPr>
      </a:lstStyle>
    </a:spDef>
    <a:lnDef>
      <a:spPr bwMode="auto">
        <a:xfrm>
          <a:off x="0" y="0"/>
          <a:ext cx="1" cy="1"/>
        </a:xfrm>
        <a:custGeom>
          <a:avLst/>
          <a:gdLst/>
          <a:ahLst/>
          <a:cxnLst/>
          <a:rect l="0" t="0" r="0" b="0"/>
          <a:pathLst/>
        </a:custGeom>
        <a:solidFill>
          <a:schemeClr val="folHlink"/>
        </a:solidFill>
        <a:ln w="635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pitchFamily="34" charset="0"/>
            <a:ea typeface="ヒラギノ角ゴ Pro W3" pitchFamily="124" charset="-128"/>
          </a:defRPr>
        </a:defPPr>
      </a:lstStyle>
    </a:lnDef>
    <a:txDef>
      <a:spPr>
        <a:noFill/>
      </a:spPr>
      <a:bodyPr wrap="none" rtlCol="0">
        <a:spAutoFit/>
      </a:bodyPr>
      <a:lstStyle>
        <a:defPPr>
          <a:defRPr baseline="0" dirty="0">
            <a:ea typeface="+mj-ea"/>
          </a:defRPr>
        </a:defPPr>
      </a:lstStyle>
    </a:txDef>
  </a:objectDefaults>
  <a:extraClrSchemeLst>
    <a:extraClrScheme>
      <a:clrScheme name="ICG_Pres (A4) 1">
        <a:dk1>
          <a:srgbClr val="53565A"/>
        </a:dk1>
        <a:lt1>
          <a:srgbClr val="FFFFFF"/>
        </a:lt1>
        <a:dk2>
          <a:srgbClr val="97999B"/>
        </a:dk2>
        <a:lt2>
          <a:srgbClr val="53565A"/>
        </a:lt2>
        <a:accent1>
          <a:srgbClr val="002D72"/>
        </a:accent1>
        <a:accent2>
          <a:srgbClr val="99ABC7"/>
        </a:accent2>
        <a:accent3>
          <a:srgbClr val="FFFFFF"/>
        </a:accent3>
        <a:accent4>
          <a:srgbClr val="46484C"/>
        </a:accent4>
        <a:accent5>
          <a:srgbClr val="AAADBC"/>
        </a:accent5>
        <a:accent6>
          <a:srgbClr val="8A9BB4"/>
        </a:accent6>
        <a:hlink>
          <a:srgbClr val="00BDF2"/>
        </a:hlink>
        <a:folHlink>
          <a:srgbClr val="99E4FA"/>
        </a:folHlink>
      </a:clrScheme>
      <a:clrMap bg1="lt1" tx1="dk1" bg2="lt2" tx2="dk2" accent1="accent1" accent2="accent2" accent3="accent3" accent4="accent4" accent5="accent5" accent6="accent6" hlink="hlink" folHlink="folHlink"/>
    </a:extraClrScheme>
  </a:extraClrSchemeLst>
  <a:custClrLst>
    <a:custClr name="Aqua">
      <a:srgbClr val="00B0B9"/>
    </a:custClr>
    <a:custClr name="Aqua Tint">
      <a:srgbClr val="99DFE3"/>
    </a:custClr>
    <a:custClr name="Goldenrod">
      <a:srgbClr val="C99700"/>
    </a:custClr>
    <a:custClr name="Goldenrod Tint">
      <a:srgbClr val="E9D599"/>
    </a:custClr>
    <a:custClr name="Forest">
      <a:srgbClr val="00843D"/>
    </a:custClr>
    <a:custClr name="Forest Tint">
      <a:srgbClr val="66B797"/>
    </a:custClr>
    <a:custClr name="Plum">
      <a:srgbClr val="890C58"/>
    </a:custClr>
    <a:custClr name="Plum Tint">
      <a:srgbClr val="B37A9F"/>
    </a:custClr>
    <a:custClr name="Olive">
      <a:srgbClr val="949300"/>
    </a:custClr>
    <a:custClr name="Olive Tint">
      <a:srgbClr val="D4D499"/>
    </a:custClr>
    <a:custClr name="Teal">
      <a:srgbClr val="007377"/>
    </a:custClr>
    <a:custClr name="Teal Tint">
      <a:srgbClr val="99C7C9"/>
    </a:custClr>
    <a:custClr name="Tangerine">
      <a:srgbClr val="ED8B00"/>
    </a:custClr>
    <a:custClr name="Tangerine Tint">
      <a:srgbClr val="F8D199"/>
    </a:custClr>
    <a:custClr name="Purple">
      <a:srgbClr val="6B3077"/>
    </a:custClr>
    <a:custClr name="Purple Tint">
      <a:srgbClr val="C4ACC9"/>
    </a:custClr>
    <a:custClr name="Green">
      <a:srgbClr val="84BD00"/>
    </a:custClr>
    <a:custClr name="Green Tint">
      <a:srgbClr val="CEE599"/>
    </a:custClr>
    <a:custClr name="White">
      <a:srgbClr val="FFFFFF"/>
    </a:custClr>
    <a:custClr name="White">
      <a:srgbClr val="FFFFFF"/>
    </a:custClr>
    <a:custClr name="Burnt Orange">
      <a:srgbClr val="CB6015"/>
    </a:custClr>
    <a:custClr name="Citi Cyan Tint (20%)">
      <a:srgbClr val="CCF2FC"/>
    </a:custClr>
    <a:custClr name="Citi Light Gray Tint(20%)">
      <a:srgbClr val="EAEBEB"/>
    </a:custClr>
  </a:custClrLst>
  <a:extLst>
    <a:ext uri="{05A4C25C-085E-4340-85A3-A5531E510DB2}">
      <thm15:themeFamily xmlns:thm15="http://schemas.microsoft.com/office/thememl/2012/main" name="Powerpoint_Template" id="{3273D626-74B2-4657-B04E-A51B0AC0A803}" vid="{2359BF11-C5DC-4C20-935C-E0FE0D731B6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Template" id="{3273D626-74B2-4657-B04E-A51B0AC0A803}" vid="{7D1253BD-447D-4EE6-8D2F-DDBB4716EAD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F8E8959049E8428369959651C7B244" ma:contentTypeVersion="1" ma:contentTypeDescription="Create a new document." ma:contentTypeScope="" ma:versionID="a3dfc01f428c3fcbfdafd221a376b9de">
  <xsd:schema xmlns:xsd="http://www.w3.org/2001/XMLSchema" xmlns:p="http://schemas.microsoft.com/office/2006/metadata/properties" xmlns:ns2="71bf3f0a-df54-467d-89c2-87f8d534ba77" targetNamespace="http://schemas.microsoft.com/office/2006/metadata/properties" ma:root="true" ma:fieldsID="96a372070048e73f7666a0524ec77300" ns2:_="">
    <xsd:import namespace="71bf3f0a-df54-467d-89c2-87f8d534ba77"/>
    <xsd:element name="properties">
      <xsd:complexType>
        <xsd:sequence>
          <xsd:element name="documentManagement">
            <xsd:complexType>
              <xsd:all>
                <xsd:element ref="ns2:Comments" minOccurs="0"/>
              </xsd:all>
            </xsd:complexType>
          </xsd:element>
        </xsd:sequence>
      </xsd:complexType>
    </xsd:element>
  </xsd:schema>
  <xsd:schema xmlns:xsd="http://www.w3.org/2001/XMLSchema" xmlns:dms="http://schemas.microsoft.com/office/2006/documentManagement/types" targetNamespace="71bf3f0a-df54-467d-89c2-87f8d534ba77" elementFormDefault="qualified">
    <xsd:import namespace="http://schemas.microsoft.com/office/2006/documentManagement/types"/>
    <xsd:element name="Comments" ma:index="10" nillable="true" ma:displayName="Comments" ma:internalName="Comments">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Comments xmlns="71bf3f0a-df54-467d-89c2-87f8d534ba7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674307-C299-473D-A73D-C7DBA1A7BA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bf3f0a-df54-467d-89c2-87f8d534ba77"/>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24559248-63FA-4C6E-A37D-96FF4426E5C5}">
  <ds:schemaRefs>
    <ds:schemaRef ds:uri="http://purl.org/dc/elements/1.1/"/>
    <ds:schemaRef ds:uri="http://schemas.openxmlformats.org/package/2006/metadata/core-properties"/>
    <ds:schemaRef ds:uri="http://purl.org/dc/terms/"/>
    <ds:schemaRef ds:uri="71bf3f0a-df54-467d-89c2-87f8d534ba77"/>
    <ds:schemaRef ds:uri="http://schemas.microsoft.com/office/2006/documentManagement/typ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8ABB6DC8-0142-4676-96FE-F1693BA950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247</TotalTime>
  <Words>356</Words>
  <Application>Microsoft Office PowerPoint</Application>
  <PresentationFormat>On-screen Show (16:9)</PresentationFormat>
  <Paragraphs>45</Paragraphs>
  <Slides>8</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Arial</vt:lpstr>
      <vt:lpstr>Calibri Light</vt:lpstr>
      <vt:lpstr>Geneva</vt:lpstr>
      <vt:lpstr>STKaiti</vt:lpstr>
      <vt:lpstr>Symbol</vt:lpstr>
      <vt:lpstr>Wingdings</vt:lpstr>
      <vt:lpstr>ヒラギノ角ゴ Pro W3</vt:lpstr>
      <vt:lpstr>L&amp;T Infotech</vt:lpstr>
      <vt:lpstr>Custom Design</vt:lpstr>
      <vt:lpstr>Introduction to “Treasury &amp; Trade Solutions”</vt:lpstr>
      <vt:lpstr>What’s Inside:</vt:lpstr>
      <vt:lpstr>PowerPoint Presentation</vt:lpstr>
      <vt:lpstr>Treasury and its major activities:</vt:lpstr>
      <vt:lpstr>Treasury and Trade Solutions (TTS):</vt:lpstr>
      <vt:lpstr>TTS:</vt:lpstr>
      <vt:lpstr>Liquidity Management:</vt:lpstr>
      <vt:lpstr>PowerPoint Presentation</vt:lpstr>
    </vt:vector>
  </TitlesOfParts>
  <Company>Citi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Liquidity Management</dc:title>
  <dc:creator>Sajal Agarwal</dc:creator>
  <cp:lastModifiedBy>Sajal Agarwal</cp:lastModifiedBy>
  <cp:revision>21</cp:revision>
  <cp:lastPrinted>2015-11-28T12:28:20Z</cp:lastPrinted>
  <dcterms:created xsi:type="dcterms:W3CDTF">2017-11-29T05:45:07Z</dcterms:created>
  <dcterms:modified xsi:type="dcterms:W3CDTF">2017-12-13T09:38:43Z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0x01010070F8E8959049E8428369959651C7B244</vt:lpwstr>
  </property>
  <property fmtid="{D5CDD505-2E9C-101B-9397-08002B2CF9AE}" pid="3" name="TOCOpt">
    <vt:lpwstr>1</vt:lpwstr>
  </property>
  <property fmtid="{D5CDD505-2E9C-101B-9397-08002B2CF9AE}" pid="4" name="PNSOpt">
    <vt:lpwstr>1</vt:lpwstr>
  </property>
  <property fmtid="{D5CDD505-2E9C-101B-9397-08002B2CF9AE}" pid="5" name="Pitchbook Compatible">
    <vt:lpwstr>Yes</vt:lpwstr>
  </property>
</Properties>
</file>